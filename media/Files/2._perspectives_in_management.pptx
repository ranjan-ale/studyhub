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Default Extension="jpeg" ContentType="image/jpeg"/>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sldIdLst>
    <p:sldId id="256" r:id="rId2"/>
    <p:sldId id="257" r:id="rId3"/>
    <p:sldId id="258" r:id="rId4"/>
    <p:sldId id="259" r:id="rId5"/>
    <p:sldId id="267" r:id="rId6"/>
    <p:sldId id="261" r:id="rId7"/>
    <p:sldId id="262" r:id="rId8"/>
    <p:sldId id="260" r:id="rId9"/>
    <p:sldId id="265" r:id="rId10"/>
    <p:sldId id="268" r:id="rId11"/>
    <p:sldId id="263" r:id="rId12"/>
    <p:sldId id="271" r:id="rId13"/>
    <p:sldId id="266" r:id="rId14"/>
    <p:sldId id="264" r:id="rId15"/>
    <p:sldId id="269" r:id="rId16"/>
    <p:sldId id="274" r:id="rId17"/>
    <p:sldId id="272" r:id="rId18"/>
    <p:sldId id="273" r:id="rId19"/>
    <p:sldId id="270"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8" r:id="rId43"/>
    <p:sldId id="299" r:id="rId44"/>
    <p:sldId id="300" r:id="rId45"/>
    <p:sldId id="301" r:id="rId46"/>
    <p:sldId id="302" r:id="rId47"/>
    <p:sldId id="306" r:id="rId48"/>
    <p:sldId id="303" r:id="rId49"/>
    <p:sldId id="304" r:id="rId50"/>
    <p:sldId id="305" r:id="rId51"/>
    <p:sldId id="307" r:id="rId52"/>
    <p:sldId id="308" r:id="rId53"/>
    <p:sldId id="309" r:id="rId54"/>
    <p:sldId id="310" r:id="rId55"/>
    <p:sldId id="311" r:id="rId56"/>
    <p:sldId id="312" r:id="rId57"/>
    <p:sldId id="313" r:id="rId58"/>
    <p:sldId id="314" r:id="rId5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AFC42D7D-93EB-4E5B-B755-CCC2CC24F2C3}" type="datetimeFigureOut">
              <a:rPr lang="en-US" smtClean="0"/>
              <a:pPr/>
              <a:t>5/24/2023</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D09EF633-AFFD-4949-96D7-1F2036D36F98}"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AFC42D7D-93EB-4E5B-B755-CCC2CC24F2C3}" type="datetimeFigureOut">
              <a:rPr lang="en-US" smtClean="0"/>
              <a:pPr/>
              <a:t>5/24/2023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9EF633-AFFD-4949-96D7-1F2036D36F98}"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AFC42D7D-93EB-4E5B-B755-CCC2CC24F2C3}" type="datetimeFigureOut">
              <a:rPr lang="en-US" smtClean="0"/>
              <a:pPr/>
              <a:t>5/24/2023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9EF633-AFFD-4949-96D7-1F2036D36F98}"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AFC42D7D-93EB-4E5B-B755-CCC2CC24F2C3}" type="datetimeFigureOut">
              <a:rPr lang="en-US" smtClean="0"/>
              <a:pPr/>
              <a:t>5/24/2023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9EF633-AFFD-4949-96D7-1F2036D36F98}"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C42D7D-93EB-4E5B-B755-CCC2CC24F2C3}" type="datetimeFigureOut">
              <a:rPr lang="en-US" smtClean="0"/>
              <a:pPr/>
              <a:t>5/24/2023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09EF633-AFFD-4949-96D7-1F2036D36F9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AFC42D7D-93EB-4E5B-B755-CCC2CC24F2C3}" type="datetimeFigureOut">
              <a:rPr lang="en-US" smtClean="0"/>
              <a:pPr/>
              <a:t>5/24/2023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09EF633-AFFD-4949-96D7-1F2036D36F98}"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C42D7D-93EB-4E5B-B755-CCC2CC24F2C3}" type="datetimeFigureOut">
              <a:rPr lang="en-US" smtClean="0"/>
              <a:pPr/>
              <a:t>5/24/2023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09EF633-AFFD-4949-96D7-1F2036D36F98}"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AFC42D7D-93EB-4E5B-B755-CCC2CC24F2C3}" type="datetimeFigureOut">
              <a:rPr lang="en-US" smtClean="0"/>
              <a:pPr/>
              <a:t>5/24/2023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9EF633-AFFD-4949-96D7-1F2036D36F98}"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AFC42D7D-93EB-4E5B-B755-CCC2CC24F2C3}" type="datetimeFigureOut">
              <a:rPr lang="en-US" smtClean="0"/>
              <a:pPr/>
              <a:t>5/24/2023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D09EF633-AFFD-4949-96D7-1F2036D36F98}"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AFC42D7D-93EB-4E5B-B755-CCC2CC24F2C3}" type="datetimeFigureOut">
              <a:rPr lang="en-US" smtClean="0"/>
              <a:pPr/>
              <a:t>5/24/2023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9EF633-AFFD-4949-96D7-1F2036D36F98}"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AFC42D7D-93EB-4E5B-B755-CCC2CC24F2C3}" type="datetimeFigureOut">
              <a:rPr lang="en-US" smtClean="0"/>
              <a:pPr/>
              <a:t>5/24/2023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9EF633-AFFD-4949-96D7-1F2036D36F98}"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AFC42D7D-93EB-4E5B-B755-CCC2CC24F2C3}" type="datetimeFigureOut">
              <a:rPr lang="en-US" smtClean="0"/>
              <a:pPr/>
              <a:t>5/24/2023</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D09EF633-AFFD-4949-96D7-1F2036D36F98}"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33400" y="2438400"/>
            <a:ext cx="8458200" cy="584775"/>
          </a:xfrm>
          <a:prstGeom prst="rect">
            <a:avLst/>
          </a:prstGeom>
          <a:noFill/>
        </p:spPr>
        <p:txBody>
          <a:bodyPr wrap="square" rtlCol="0">
            <a:spAutoFit/>
          </a:bodyPr>
          <a:lstStyle/>
          <a:p>
            <a:r>
              <a:rPr lang="en-US" sz="3200" dirty="0" smtClean="0"/>
              <a:t>CLASSICAL ORGANIZATIONAL THEORY</a:t>
            </a:r>
            <a:endParaRPr lang="en-US" sz="3200" dirty="0"/>
          </a:p>
        </p:txBody>
      </p:sp>
      <p:sp>
        <p:nvSpPr>
          <p:cNvPr id="6" name="TextBox 5"/>
          <p:cNvSpPr txBox="1"/>
          <p:nvPr/>
        </p:nvSpPr>
        <p:spPr>
          <a:xfrm>
            <a:off x="533400" y="3581400"/>
            <a:ext cx="8153400" cy="3108543"/>
          </a:xfrm>
          <a:prstGeom prst="rect">
            <a:avLst/>
          </a:prstGeom>
          <a:noFill/>
        </p:spPr>
        <p:txBody>
          <a:bodyPr wrap="square" rtlCol="0">
            <a:spAutoFit/>
          </a:bodyPr>
          <a:lstStyle/>
          <a:p>
            <a:pPr>
              <a:buFont typeface="Wingdings" pitchFamily="2" charset="2"/>
              <a:buChar char="Ø"/>
            </a:pPr>
            <a:r>
              <a:rPr lang="en-US" sz="2800" dirty="0" smtClean="0"/>
              <a:t>The Bureaucracy Theory of  </a:t>
            </a:r>
          </a:p>
          <a:p>
            <a:r>
              <a:rPr lang="en-US" sz="2800" dirty="0" smtClean="0"/>
              <a:t>(</a:t>
            </a:r>
            <a:r>
              <a:rPr lang="ne-NP" sz="2800" dirty="0" smtClean="0"/>
              <a:t>नोकरशाही</a:t>
            </a:r>
            <a:r>
              <a:rPr lang="en-US" sz="2800" dirty="0" smtClean="0"/>
              <a:t>)</a:t>
            </a:r>
            <a:r>
              <a:rPr lang="en-US" sz="2800" dirty="0" smtClean="0">
                <a:sym typeface="Wingdings" pitchFamily="2" charset="2"/>
              </a:rPr>
              <a:t>Max Weber(</a:t>
            </a:r>
            <a:r>
              <a:rPr lang="en-US" dirty="0" smtClean="0">
                <a:sym typeface="Wingdings" pitchFamily="2" charset="2"/>
              </a:rPr>
              <a:t>theory of social and economic Org.)</a:t>
            </a:r>
            <a:endParaRPr lang="en-US" dirty="0" smtClean="0"/>
          </a:p>
          <a:p>
            <a:pPr>
              <a:buFont typeface="Wingdings" pitchFamily="2" charset="2"/>
              <a:buChar char="Ø"/>
            </a:pPr>
            <a:r>
              <a:rPr lang="en-US" sz="2800" dirty="0" smtClean="0"/>
              <a:t>Administrative Management Theory</a:t>
            </a:r>
          </a:p>
          <a:p>
            <a:r>
              <a:rPr lang="en-US" sz="2800" dirty="0" smtClean="0"/>
              <a:t>(</a:t>
            </a:r>
            <a:r>
              <a:rPr lang="ne-NP" sz="2800" dirty="0" smtClean="0"/>
              <a:t>प्रशासनिक</a:t>
            </a:r>
            <a:r>
              <a:rPr lang="en-US" sz="2800" dirty="0" smtClean="0"/>
              <a:t>)</a:t>
            </a:r>
            <a:r>
              <a:rPr lang="en-US" sz="2800" dirty="0" smtClean="0">
                <a:sym typeface="Wingdings" pitchFamily="2" charset="2"/>
              </a:rPr>
              <a:t>Henry </a:t>
            </a:r>
            <a:r>
              <a:rPr lang="en-US" sz="2800" dirty="0" err="1" smtClean="0">
                <a:sym typeface="Wingdings" pitchFamily="2" charset="2"/>
              </a:rPr>
              <a:t>Fayol</a:t>
            </a:r>
            <a:r>
              <a:rPr lang="en-US" sz="2800" dirty="0" smtClean="0">
                <a:sym typeface="Wingdings" pitchFamily="2" charset="2"/>
              </a:rPr>
              <a:t> </a:t>
            </a:r>
            <a:endParaRPr lang="en-US" sz="2800" dirty="0" smtClean="0"/>
          </a:p>
          <a:p>
            <a:pPr>
              <a:buFont typeface="Wingdings" pitchFamily="2" charset="2"/>
              <a:buChar char="Ø"/>
            </a:pPr>
            <a:r>
              <a:rPr lang="en-US" sz="2800" dirty="0" smtClean="0"/>
              <a:t>Scientific  Management Theory</a:t>
            </a:r>
          </a:p>
          <a:p>
            <a:r>
              <a:rPr lang="en-US" sz="2800" dirty="0" smtClean="0"/>
              <a:t>(</a:t>
            </a:r>
            <a:r>
              <a:rPr lang="ne-NP" sz="2800" dirty="0" smtClean="0"/>
              <a:t>वैज्ञानिक</a:t>
            </a:r>
            <a:r>
              <a:rPr lang="en-US" sz="2800" dirty="0" smtClean="0"/>
              <a:t>)</a:t>
            </a:r>
            <a:r>
              <a:rPr lang="en-US" sz="2800" dirty="0" smtClean="0">
                <a:sym typeface="Wingdings" pitchFamily="2" charset="2"/>
              </a:rPr>
              <a:t>Frederick Winslow Taylor</a:t>
            </a:r>
            <a:endParaRPr lang="en-US" sz="2800" dirty="0" smtClean="0"/>
          </a:p>
          <a:p>
            <a:pPr>
              <a:buFont typeface="Wingdings" pitchFamily="2" charset="2"/>
              <a:buChar char="Ø"/>
            </a:pPr>
            <a:endParaRPr lang="en-US" sz="2800" dirty="0"/>
          </a:p>
        </p:txBody>
      </p:sp>
      <p:sp>
        <p:nvSpPr>
          <p:cNvPr id="7" name="TextBox 6"/>
          <p:cNvSpPr txBox="1"/>
          <p:nvPr/>
        </p:nvSpPr>
        <p:spPr>
          <a:xfrm>
            <a:off x="838200" y="762000"/>
            <a:ext cx="8305800" cy="707886"/>
          </a:xfrm>
          <a:prstGeom prst="rect">
            <a:avLst/>
          </a:prstGeom>
          <a:noFill/>
        </p:spPr>
        <p:txBody>
          <a:bodyPr wrap="square" rtlCol="0">
            <a:spAutoFit/>
          </a:bodyPr>
          <a:lstStyle/>
          <a:p>
            <a:r>
              <a:rPr lang="en-US" sz="4000" dirty="0" smtClean="0"/>
              <a:t>PERSPECTIVES IN MANAGEMENT</a:t>
            </a:r>
            <a:endParaRPr lang="en-US" sz="4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457200"/>
            <a:ext cx="9144000" cy="6555641"/>
          </a:xfrm>
          <a:prstGeom prst="rect">
            <a:avLst/>
          </a:prstGeom>
          <a:noFill/>
        </p:spPr>
        <p:txBody>
          <a:bodyPr wrap="square" rtlCol="0">
            <a:spAutoFit/>
          </a:bodyPr>
          <a:lstStyle/>
          <a:p>
            <a:r>
              <a:rPr lang="en-US" sz="3600" b="1" dirty="0" smtClean="0"/>
              <a:t>ORGANIZATIONAL THEORIES</a:t>
            </a:r>
          </a:p>
          <a:p>
            <a:pPr algn="just"/>
            <a:r>
              <a:rPr lang="en-US" sz="2400" dirty="0" smtClean="0"/>
              <a:t>Management theories are the set of general rules that guide the managers to manage an organization. Management theories focus on the role of supervision, Organization, and group performance. Theories are an explanation to assist employees to effectively relate to the business goals and implement effective means to achieve the same.</a:t>
            </a:r>
          </a:p>
          <a:p>
            <a:pPr algn="just"/>
            <a:r>
              <a:rPr lang="en-US" sz="2400" dirty="0" smtClean="0"/>
              <a:t>Early management theories base leadership on system of reward and punishment. Managerial theories are often used in business; when employees are successful, they are rewarded; when they fail, they are punished.</a:t>
            </a:r>
          </a:p>
          <a:p>
            <a:pPr algn="just"/>
            <a:r>
              <a:rPr lang="en-US" sz="2400" dirty="0" smtClean="0"/>
              <a:t>Classical management theory is based on the belief that workers only have physical and economic needs and prescribes specialization of labor. Classical theories recommend centralized leadership and decision-making and focus on profit maximization</a:t>
            </a:r>
          </a:p>
          <a:p>
            <a:pPr algn="just"/>
            <a:r>
              <a:rPr lang="en-US" sz="2400" dirty="0" smtClean="0"/>
              <a:t>The classical writers viewed organization as a machine and human beings as components of that machine.</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838200"/>
            <a:ext cx="8839200" cy="5755422"/>
          </a:xfrm>
          <a:prstGeom prst="rect">
            <a:avLst/>
          </a:prstGeom>
          <a:noFill/>
        </p:spPr>
        <p:txBody>
          <a:bodyPr wrap="square" rtlCol="0">
            <a:spAutoFit/>
          </a:bodyPr>
          <a:lstStyle/>
          <a:p>
            <a:r>
              <a:rPr lang="en-US" sz="2800" b="1" dirty="0" smtClean="0"/>
              <a:t>SEVEN PILLARS OF CLASSICAL THEORY</a:t>
            </a:r>
          </a:p>
          <a:p>
            <a:endParaRPr lang="en-US" sz="2800" b="1" dirty="0" smtClean="0"/>
          </a:p>
          <a:p>
            <a:pPr marL="342900" indent="-342900">
              <a:buAutoNum type="arabicPeriod"/>
            </a:pPr>
            <a:r>
              <a:rPr lang="en-US" sz="2400" b="1" dirty="0" smtClean="0"/>
              <a:t>Division of labor</a:t>
            </a:r>
          </a:p>
          <a:p>
            <a:pPr marL="342900" indent="-342900">
              <a:buAutoNum type="arabicPeriod"/>
            </a:pPr>
            <a:endParaRPr lang="en-US" sz="2400" b="1" dirty="0" smtClean="0"/>
          </a:p>
          <a:p>
            <a:pPr marL="342900" indent="-342900">
              <a:buAutoNum type="arabicPeriod"/>
            </a:pPr>
            <a:r>
              <a:rPr lang="en-US" sz="2400" b="1" dirty="0" smtClean="0"/>
              <a:t>Hierarchy</a:t>
            </a:r>
          </a:p>
          <a:p>
            <a:pPr marL="342900" indent="-342900">
              <a:buAutoNum type="arabicPeriod"/>
            </a:pPr>
            <a:endParaRPr lang="en-US" sz="2400" b="1" dirty="0" smtClean="0"/>
          </a:p>
          <a:p>
            <a:pPr marL="342900" indent="-342900">
              <a:buAutoNum type="arabicPeriod"/>
            </a:pPr>
            <a:r>
              <a:rPr lang="en-US" sz="2400" b="1" dirty="0" smtClean="0"/>
              <a:t>Standardized approach to work</a:t>
            </a:r>
          </a:p>
          <a:p>
            <a:pPr marL="342900" indent="-342900">
              <a:buAutoNum type="arabicPeriod"/>
            </a:pPr>
            <a:endParaRPr lang="en-US" sz="2400" b="1" dirty="0" smtClean="0"/>
          </a:p>
          <a:p>
            <a:pPr marL="342900" indent="-342900">
              <a:buAutoNum type="arabicPeriod"/>
            </a:pPr>
            <a:r>
              <a:rPr lang="en-US" sz="2400" b="1" dirty="0" smtClean="0"/>
              <a:t>Centralization of authority</a:t>
            </a:r>
          </a:p>
          <a:p>
            <a:pPr marL="342900" indent="-342900">
              <a:buAutoNum type="arabicPeriod"/>
            </a:pPr>
            <a:endParaRPr lang="en-US" sz="2400" b="1" dirty="0" smtClean="0"/>
          </a:p>
          <a:p>
            <a:pPr marL="342900" indent="-342900">
              <a:buAutoNum type="arabicPeriod"/>
            </a:pPr>
            <a:r>
              <a:rPr lang="en-US" sz="2400" b="1" dirty="0" smtClean="0"/>
              <a:t>Separation of personal and work life</a:t>
            </a:r>
          </a:p>
          <a:p>
            <a:pPr marL="342900" indent="-342900">
              <a:buAutoNum type="arabicPeriod"/>
            </a:pPr>
            <a:endParaRPr lang="en-US" sz="2400" b="1" dirty="0" smtClean="0"/>
          </a:p>
          <a:p>
            <a:pPr marL="342900" indent="-342900">
              <a:buAutoNum type="arabicPeriod"/>
            </a:pPr>
            <a:r>
              <a:rPr lang="en-US" sz="2400" b="1" dirty="0" smtClean="0"/>
              <a:t>Select the best employees</a:t>
            </a:r>
          </a:p>
          <a:p>
            <a:pPr marL="342900" indent="-342900">
              <a:buAutoNum type="arabicPeriod"/>
            </a:pPr>
            <a:endParaRPr lang="en-US" sz="2400" b="1" dirty="0" smtClean="0"/>
          </a:p>
          <a:p>
            <a:pPr marL="342900" indent="-342900">
              <a:buAutoNum type="arabicPeriod"/>
            </a:pPr>
            <a:r>
              <a:rPr lang="en-US" sz="2400" b="1" dirty="0" smtClean="0"/>
              <a:t>Fair wages</a:t>
            </a:r>
            <a:endParaRPr lang="en-US" sz="2400"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685800"/>
            <a:ext cx="8839200" cy="6432530"/>
          </a:xfrm>
          <a:prstGeom prst="rect">
            <a:avLst/>
          </a:prstGeom>
          <a:noFill/>
        </p:spPr>
        <p:txBody>
          <a:bodyPr wrap="square" rtlCol="0">
            <a:spAutoFit/>
          </a:bodyPr>
          <a:lstStyle/>
          <a:p>
            <a:r>
              <a:rPr lang="en-US" sz="2800" b="1" u="sng" dirty="0" smtClean="0"/>
              <a:t>Bureaucratic theory of management</a:t>
            </a:r>
            <a:r>
              <a:rPr lang="en-US" sz="2400" dirty="0" smtClean="0">
                <a:sym typeface="Wingdings" pitchFamily="2" charset="2"/>
              </a:rPr>
              <a:t> Max Weber</a:t>
            </a:r>
          </a:p>
          <a:p>
            <a:r>
              <a:rPr lang="en-US" sz="2400" dirty="0" smtClean="0">
                <a:sym typeface="Wingdings" pitchFamily="2" charset="2"/>
              </a:rPr>
              <a:t>What is Bureaucracy?</a:t>
            </a:r>
          </a:p>
          <a:p>
            <a:pPr algn="just"/>
            <a:r>
              <a:rPr lang="en-US" sz="2400" dirty="0" smtClean="0">
                <a:sym typeface="Wingdings" pitchFamily="2" charset="2"/>
              </a:rPr>
              <a:t>Bureaucracy is an organizational structure that is characterized by many rules, standardized process, procedures and requirements, number of desks, thorough division of </a:t>
            </a:r>
            <a:r>
              <a:rPr lang="en-US" sz="2400" dirty="0" smtClean="0">
                <a:sym typeface="Wingdings" pitchFamily="2" charset="2"/>
              </a:rPr>
              <a:t>labor </a:t>
            </a:r>
            <a:r>
              <a:rPr lang="en-US" sz="2400" dirty="0" smtClean="0">
                <a:sym typeface="Wingdings" pitchFamily="2" charset="2"/>
              </a:rPr>
              <a:t>and responsibility, clear hierarchies and professional, almost impersonal interactions between employees.</a:t>
            </a:r>
          </a:p>
          <a:p>
            <a:pPr algn="just"/>
            <a:r>
              <a:rPr lang="en-US" sz="2400" dirty="0" smtClean="0">
                <a:sym typeface="Wingdings" pitchFamily="2" charset="2"/>
              </a:rPr>
              <a:t>Max </a:t>
            </a:r>
            <a:r>
              <a:rPr lang="en-US" sz="2400" dirty="0">
                <a:sym typeface="Wingdings" pitchFamily="2" charset="2"/>
              </a:rPr>
              <a:t>W</a:t>
            </a:r>
            <a:r>
              <a:rPr lang="en-US" sz="2400" dirty="0" smtClean="0">
                <a:sym typeface="Wingdings" pitchFamily="2" charset="2"/>
              </a:rPr>
              <a:t>eber believed that Bureaucracy was a better than traditional structures. In a bureaucratic organization, everyone is treated equal and the division of </a:t>
            </a:r>
            <a:r>
              <a:rPr lang="en-US" sz="2400" dirty="0" smtClean="0">
                <a:sym typeface="Wingdings" pitchFamily="2" charset="2"/>
              </a:rPr>
              <a:t>labor </a:t>
            </a:r>
            <a:r>
              <a:rPr lang="en-US" sz="2400" dirty="0" smtClean="0">
                <a:sym typeface="Wingdings" pitchFamily="2" charset="2"/>
              </a:rPr>
              <a:t>is clearly described for each employee.</a:t>
            </a:r>
          </a:p>
          <a:p>
            <a:pPr algn="just"/>
            <a:r>
              <a:rPr lang="en-US" sz="2400" dirty="0" smtClean="0">
                <a:sym typeface="Wingdings" pitchFamily="2" charset="2"/>
              </a:rPr>
              <a:t>According to the bureaucratic theory of Max Weber, Such a structure was indispensable in large organizations in structurally performing all tasks by a great number of employees. In addition, in a bureaucratic organization, selection and promotion only occur on the basis of technical qualifications</a:t>
            </a:r>
          </a:p>
          <a:p>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2400" y="838200"/>
            <a:ext cx="8839200" cy="3785652"/>
          </a:xfrm>
          <a:prstGeom prst="rect">
            <a:avLst/>
          </a:prstGeom>
          <a:noFill/>
        </p:spPr>
        <p:txBody>
          <a:bodyPr wrap="square" rtlCol="0">
            <a:spAutoFit/>
          </a:bodyPr>
          <a:lstStyle/>
          <a:p>
            <a:r>
              <a:rPr lang="en-US" sz="2400" b="1" dirty="0" smtClean="0"/>
              <a:t>Contribution of Bureaucratic theory</a:t>
            </a:r>
          </a:p>
          <a:p>
            <a:endParaRPr lang="en-US" sz="2400" b="1" dirty="0" smtClean="0"/>
          </a:p>
          <a:p>
            <a:pPr>
              <a:buFont typeface="Wingdings" pitchFamily="2" charset="2"/>
              <a:buChar char="Ø"/>
            </a:pPr>
            <a:r>
              <a:rPr lang="en-US" sz="2400" dirty="0" smtClean="0"/>
              <a:t>This model is useful to manage big and complex organization like government, army, multinational and global organizations</a:t>
            </a:r>
          </a:p>
          <a:p>
            <a:pPr>
              <a:buFont typeface="Wingdings" pitchFamily="2" charset="2"/>
              <a:buChar char="Ø"/>
            </a:pPr>
            <a:r>
              <a:rPr lang="en-US" sz="2400" dirty="0" smtClean="0"/>
              <a:t>Decisions can be made rationally based on a clear rules and regulations.</a:t>
            </a:r>
          </a:p>
          <a:p>
            <a:pPr>
              <a:buFont typeface="Wingdings" pitchFamily="2" charset="2"/>
              <a:buChar char="Ø"/>
            </a:pPr>
            <a:r>
              <a:rPr lang="en-US" sz="2400" dirty="0" smtClean="0"/>
              <a:t>Technical competence of employees facilitates specialization which helps to increase the organizational productivity.</a:t>
            </a:r>
          </a:p>
          <a:p>
            <a:pPr>
              <a:buFont typeface="Wingdings" pitchFamily="2" charset="2"/>
              <a:buChar char="Ø"/>
            </a:pPr>
            <a:r>
              <a:rPr lang="en-US" sz="2400" dirty="0" smtClean="0"/>
              <a:t>This theory emphasizes on formal selection process of employees to ensure right person at right job</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914400"/>
            <a:ext cx="8382000" cy="5324535"/>
          </a:xfrm>
          <a:prstGeom prst="rect">
            <a:avLst/>
          </a:prstGeom>
          <a:noFill/>
        </p:spPr>
        <p:txBody>
          <a:bodyPr wrap="square" rtlCol="0">
            <a:spAutoFit/>
          </a:bodyPr>
          <a:lstStyle/>
          <a:p>
            <a:r>
              <a:rPr lang="en-US" sz="2800" b="1" dirty="0" smtClean="0"/>
              <a:t>Problems</a:t>
            </a:r>
          </a:p>
          <a:p>
            <a:pPr algn="just">
              <a:buFont typeface="Wingdings" pitchFamily="2" charset="2"/>
              <a:buChar char="v"/>
            </a:pPr>
            <a:r>
              <a:rPr lang="en-US" sz="2400" dirty="0" smtClean="0"/>
              <a:t>Because employees of an bureaucratic organization have  no opportunity to voice their opinion or influence decision making, a bureaucracy may de-motivate employees in the long run</a:t>
            </a:r>
          </a:p>
          <a:p>
            <a:pPr algn="just">
              <a:buFont typeface="Wingdings" pitchFamily="2" charset="2"/>
              <a:buChar char="v"/>
            </a:pPr>
            <a:r>
              <a:rPr lang="en-US" sz="2400" dirty="0" smtClean="0"/>
              <a:t>Employees may start to get annoyed at the various rules and requirements, with the risk that they may start boycotting and/ or abusing these rules and standing up to the established order.</a:t>
            </a:r>
          </a:p>
          <a:p>
            <a:pPr algn="just">
              <a:buFont typeface="Wingdings" pitchFamily="2" charset="2"/>
              <a:buChar char="v"/>
            </a:pPr>
            <a:r>
              <a:rPr lang="en-US" sz="2400" dirty="0" smtClean="0"/>
              <a:t>It  is therefore very important that bureaucratic organizations properly inform employees well in advance about their approach to work and requires them to accept this. Only employees who agree to this approach are suitable to work within a bureaucratic organization.</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838200"/>
            <a:ext cx="8915400" cy="6186309"/>
          </a:xfrm>
          <a:prstGeom prst="rect">
            <a:avLst/>
          </a:prstGeom>
          <a:noFill/>
        </p:spPr>
        <p:txBody>
          <a:bodyPr wrap="square" rtlCol="0">
            <a:spAutoFit/>
          </a:bodyPr>
          <a:lstStyle/>
          <a:p>
            <a:r>
              <a:rPr lang="en-US" sz="2400" b="1" dirty="0" smtClean="0"/>
              <a:t>2. Administrative management theory </a:t>
            </a:r>
            <a:r>
              <a:rPr lang="en-US" sz="2400" b="1" dirty="0" smtClean="0">
                <a:sym typeface="Wingdings" pitchFamily="2" charset="2"/>
              </a:rPr>
              <a:t> Henri </a:t>
            </a:r>
            <a:r>
              <a:rPr lang="en-US" sz="2400" b="1" dirty="0" err="1" smtClean="0">
                <a:sym typeface="Wingdings" pitchFamily="2" charset="2"/>
              </a:rPr>
              <a:t>Fayol</a:t>
            </a:r>
            <a:endParaRPr lang="en-US" sz="2400" b="1" dirty="0" smtClean="0">
              <a:sym typeface="Wingdings" pitchFamily="2" charset="2"/>
            </a:endParaRPr>
          </a:p>
          <a:p>
            <a:endParaRPr lang="en-US" sz="2400" b="1" dirty="0" smtClean="0">
              <a:sym typeface="Wingdings" pitchFamily="2" charset="2"/>
            </a:endParaRPr>
          </a:p>
          <a:p>
            <a:pPr algn="just"/>
            <a:r>
              <a:rPr lang="en-US" sz="2000" b="1" dirty="0" smtClean="0">
                <a:sym typeface="Wingdings" pitchFamily="2" charset="2"/>
              </a:rPr>
              <a:t>The Administrative Theory of Management was first generalized by Henri </a:t>
            </a:r>
            <a:r>
              <a:rPr lang="en-US" sz="2000" b="1" dirty="0" err="1" smtClean="0">
                <a:sym typeface="Wingdings" pitchFamily="2" charset="2"/>
              </a:rPr>
              <a:t>Fayol</a:t>
            </a:r>
            <a:r>
              <a:rPr lang="en-US" sz="2000" b="1" dirty="0" smtClean="0">
                <a:sym typeface="Wingdings" pitchFamily="2" charset="2"/>
              </a:rPr>
              <a:t>(1841-1925) with his work and publications, </a:t>
            </a:r>
            <a:r>
              <a:rPr lang="en-US" sz="2000" b="1" dirty="0" err="1" smtClean="0">
                <a:sym typeface="Wingdings" pitchFamily="2" charset="2"/>
              </a:rPr>
              <a:t>Fayol’s</a:t>
            </a:r>
            <a:r>
              <a:rPr lang="en-US" sz="2000" b="1" dirty="0" smtClean="0">
                <a:sym typeface="Wingdings" pitchFamily="2" charset="2"/>
              </a:rPr>
              <a:t> 14 Principles of management(1888) and Administration </a:t>
            </a:r>
            <a:r>
              <a:rPr lang="en-US" sz="2000" b="1" dirty="0" err="1" smtClean="0">
                <a:sym typeface="Wingdings" pitchFamily="2" charset="2"/>
              </a:rPr>
              <a:t>industrielle</a:t>
            </a:r>
            <a:r>
              <a:rPr lang="en-US" sz="2000" b="1" dirty="0" smtClean="0">
                <a:sym typeface="Wingdings" pitchFamily="2" charset="2"/>
              </a:rPr>
              <a:t> et </a:t>
            </a:r>
            <a:r>
              <a:rPr lang="en-US" sz="2000" b="1" dirty="0" err="1" smtClean="0">
                <a:sym typeface="Wingdings" pitchFamily="2" charset="2"/>
              </a:rPr>
              <a:t>Generale</a:t>
            </a:r>
            <a:r>
              <a:rPr lang="en-US" sz="2000" b="1" dirty="0" smtClean="0">
                <a:sym typeface="Wingdings" pitchFamily="2" charset="2"/>
              </a:rPr>
              <a:t>(1916)</a:t>
            </a:r>
          </a:p>
          <a:p>
            <a:pPr algn="just"/>
            <a:r>
              <a:rPr lang="en-US" sz="2400" u="sng" dirty="0" err="1" smtClean="0">
                <a:sym typeface="Wingdings" pitchFamily="2" charset="2"/>
              </a:rPr>
              <a:t>Fayol</a:t>
            </a:r>
            <a:r>
              <a:rPr lang="en-US" sz="2400" u="sng" dirty="0" smtClean="0">
                <a:sym typeface="Wingdings" pitchFamily="2" charset="2"/>
              </a:rPr>
              <a:t> is considered the father of Administrative management Theory, often called </a:t>
            </a:r>
            <a:r>
              <a:rPr lang="en-US" sz="2400" b="1" u="sng" dirty="0" smtClean="0">
                <a:sym typeface="Wingdings" pitchFamily="2" charset="2"/>
              </a:rPr>
              <a:t>Process theory </a:t>
            </a:r>
            <a:r>
              <a:rPr lang="en-US" sz="2400" u="sng" dirty="0" smtClean="0">
                <a:sym typeface="Wingdings" pitchFamily="2" charset="2"/>
              </a:rPr>
              <a:t>or </a:t>
            </a:r>
            <a:r>
              <a:rPr lang="en-US" sz="2400" b="1" u="sng" dirty="0" smtClean="0">
                <a:sym typeface="Wingdings" pitchFamily="2" charset="2"/>
              </a:rPr>
              <a:t>Structural Theory</a:t>
            </a:r>
            <a:r>
              <a:rPr lang="en-US" sz="2400" u="sng" dirty="0" smtClean="0">
                <a:sym typeface="Wingdings" pitchFamily="2" charset="2"/>
              </a:rPr>
              <a:t>.</a:t>
            </a:r>
          </a:p>
          <a:p>
            <a:pPr algn="just"/>
            <a:r>
              <a:rPr lang="en-US" sz="2400" dirty="0" err="1" smtClean="0">
                <a:sym typeface="Wingdings" pitchFamily="2" charset="2"/>
              </a:rPr>
              <a:t>Fayol</a:t>
            </a:r>
            <a:r>
              <a:rPr lang="en-US" sz="2400" dirty="0" smtClean="0">
                <a:sym typeface="Wingdings" pitchFamily="2" charset="2"/>
              </a:rPr>
              <a:t> focused on organization and structure of work tasks. He looked specifically at how management and workers are organized within business to allow for the completion of task.</a:t>
            </a:r>
          </a:p>
          <a:p>
            <a:pPr algn="just"/>
            <a:r>
              <a:rPr lang="en-US" sz="2400" dirty="0" err="1" smtClean="0">
                <a:sym typeface="Wingdings" pitchFamily="2" charset="2"/>
              </a:rPr>
              <a:t>Fayol</a:t>
            </a:r>
            <a:r>
              <a:rPr lang="en-US" sz="2400" dirty="0" smtClean="0">
                <a:sym typeface="Wingdings" pitchFamily="2" charset="2"/>
              </a:rPr>
              <a:t> followed a top-down approach to organizational efficiency. He believed that the effective organization of management would ultimately have an effect on the productivity or operational-level workers.</a:t>
            </a:r>
          </a:p>
          <a:p>
            <a:pPr algn="just"/>
            <a:r>
              <a:rPr lang="en-US" sz="2400" dirty="0" smtClean="0">
                <a:sym typeface="Wingdings" pitchFamily="2" charset="2"/>
              </a:rPr>
              <a:t>Administrative management theory is in contrast to the scientific approach to management, which posted that worker efficiency would lead to greater managerial efficiency.</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762000"/>
            <a:ext cx="9144000" cy="523220"/>
          </a:xfrm>
          <a:prstGeom prst="rect">
            <a:avLst/>
          </a:prstGeom>
          <a:noFill/>
        </p:spPr>
        <p:txBody>
          <a:bodyPr wrap="square" rtlCol="0">
            <a:spAutoFit/>
          </a:bodyPr>
          <a:lstStyle/>
          <a:p>
            <a:r>
              <a:rPr lang="en-US" dirty="0" smtClean="0"/>
              <a:t>2</a:t>
            </a:r>
            <a:r>
              <a:rPr lang="en-US" sz="2800" dirty="0" smtClean="0"/>
              <a:t>. Administrative Management Theory</a:t>
            </a:r>
            <a:r>
              <a:rPr lang="en-US" sz="2800" dirty="0" smtClean="0">
                <a:sym typeface="Wingdings" pitchFamily="2" charset="2"/>
              </a:rPr>
              <a:t> Henri </a:t>
            </a:r>
            <a:r>
              <a:rPr lang="en-US" sz="2800" dirty="0" err="1" smtClean="0">
                <a:sym typeface="Wingdings" pitchFamily="2" charset="2"/>
              </a:rPr>
              <a:t>Fayol</a:t>
            </a:r>
            <a:endParaRPr lang="en-US" sz="2800" dirty="0"/>
          </a:p>
        </p:txBody>
      </p:sp>
      <p:sp>
        <p:nvSpPr>
          <p:cNvPr id="3" name="TextBox 2"/>
          <p:cNvSpPr txBox="1"/>
          <p:nvPr/>
        </p:nvSpPr>
        <p:spPr>
          <a:xfrm>
            <a:off x="0" y="1447800"/>
            <a:ext cx="5562600" cy="461665"/>
          </a:xfrm>
          <a:prstGeom prst="rect">
            <a:avLst/>
          </a:prstGeom>
          <a:noFill/>
        </p:spPr>
        <p:txBody>
          <a:bodyPr wrap="square" rtlCol="0">
            <a:spAutoFit/>
          </a:bodyPr>
          <a:lstStyle/>
          <a:p>
            <a:r>
              <a:rPr lang="en-US" sz="2400" b="1" dirty="0" smtClean="0"/>
              <a:t>14 Principles of Management</a:t>
            </a:r>
            <a:endParaRPr lang="en-US" sz="2400" b="1" dirty="0"/>
          </a:p>
        </p:txBody>
      </p:sp>
      <p:sp>
        <p:nvSpPr>
          <p:cNvPr id="4" name="TextBox 3"/>
          <p:cNvSpPr txBox="1"/>
          <p:nvPr/>
        </p:nvSpPr>
        <p:spPr>
          <a:xfrm>
            <a:off x="6096000" y="1447800"/>
            <a:ext cx="3048000" cy="2246769"/>
          </a:xfrm>
          <a:prstGeom prst="rect">
            <a:avLst/>
          </a:prstGeom>
          <a:noFill/>
        </p:spPr>
        <p:txBody>
          <a:bodyPr wrap="square" rtlCol="0">
            <a:spAutoFit/>
          </a:bodyPr>
          <a:lstStyle/>
          <a:p>
            <a:r>
              <a:rPr lang="en-US" sz="2000" b="1" dirty="0" smtClean="0"/>
              <a:t>Functions of a Manager</a:t>
            </a:r>
          </a:p>
          <a:p>
            <a:r>
              <a:rPr lang="en-US" sz="2400" b="1" dirty="0" smtClean="0"/>
              <a:t>Planning</a:t>
            </a:r>
          </a:p>
          <a:p>
            <a:r>
              <a:rPr lang="en-US" sz="2400" b="1" dirty="0" smtClean="0"/>
              <a:t>Organizing </a:t>
            </a:r>
          </a:p>
          <a:p>
            <a:r>
              <a:rPr lang="en-US" sz="2400" b="1" dirty="0" smtClean="0"/>
              <a:t>Commanding</a:t>
            </a:r>
          </a:p>
          <a:p>
            <a:r>
              <a:rPr lang="en-US" sz="2400" b="1" dirty="0" smtClean="0"/>
              <a:t>Coordinating </a:t>
            </a:r>
          </a:p>
          <a:p>
            <a:r>
              <a:rPr lang="en-US" sz="2400" b="1" dirty="0" smtClean="0"/>
              <a:t>Controlling</a:t>
            </a:r>
            <a:endParaRPr lang="en-US" sz="2400" b="1" dirty="0"/>
          </a:p>
        </p:txBody>
      </p:sp>
      <p:sp>
        <p:nvSpPr>
          <p:cNvPr id="5" name="TextBox 4"/>
          <p:cNvSpPr txBox="1"/>
          <p:nvPr/>
        </p:nvSpPr>
        <p:spPr>
          <a:xfrm>
            <a:off x="0" y="2057400"/>
            <a:ext cx="5943600" cy="3477875"/>
          </a:xfrm>
          <a:prstGeom prst="rect">
            <a:avLst/>
          </a:prstGeom>
          <a:noFill/>
        </p:spPr>
        <p:txBody>
          <a:bodyPr wrap="square" numCol="2" rtlCol="0">
            <a:spAutoFit/>
          </a:bodyPr>
          <a:lstStyle/>
          <a:p>
            <a:pPr algn="just"/>
            <a:r>
              <a:rPr lang="en-US" sz="2000" dirty="0" smtClean="0"/>
              <a:t>1. </a:t>
            </a:r>
            <a:r>
              <a:rPr lang="en-US" sz="2000" b="1" dirty="0" smtClean="0"/>
              <a:t>Division of </a:t>
            </a:r>
            <a:r>
              <a:rPr lang="en-US" sz="2000" b="1" dirty="0" err="1" smtClean="0"/>
              <a:t>Labour</a:t>
            </a:r>
            <a:endParaRPr lang="en-US" sz="2000" b="1" dirty="0" smtClean="0"/>
          </a:p>
          <a:p>
            <a:pPr algn="just"/>
            <a:r>
              <a:rPr lang="en-US" sz="2000" b="1" dirty="0" smtClean="0"/>
              <a:t>2. Authority</a:t>
            </a:r>
          </a:p>
          <a:p>
            <a:pPr algn="just"/>
            <a:r>
              <a:rPr lang="en-US" sz="2000" b="1" dirty="0" smtClean="0"/>
              <a:t>3. Discipline</a:t>
            </a:r>
          </a:p>
          <a:p>
            <a:pPr algn="just"/>
            <a:r>
              <a:rPr lang="en-US" sz="2000" b="1" dirty="0" smtClean="0"/>
              <a:t>4. Unity of command</a:t>
            </a:r>
          </a:p>
          <a:p>
            <a:pPr algn="just"/>
            <a:r>
              <a:rPr lang="en-US" sz="2000" b="1" dirty="0" smtClean="0"/>
              <a:t>5. Unity of Direction</a:t>
            </a:r>
          </a:p>
          <a:p>
            <a:r>
              <a:rPr lang="en-US" sz="2000" b="1" dirty="0" smtClean="0"/>
              <a:t>6.Subordination of  individual interest</a:t>
            </a:r>
          </a:p>
          <a:p>
            <a:pPr algn="just"/>
            <a:r>
              <a:rPr lang="en-US" sz="2000" b="1" dirty="0" smtClean="0"/>
              <a:t>7.Remuneration (</a:t>
            </a:r>
            <a:r>
              <a:rPr lang="ne-NP" sz="2000" dirty="0" smtClean="0"/>
              <a:t>पारिश्रमिक</a:t>
            </a:r>
            <a:r>
              <a:rPr lang="en-US" sz="2000" dirty="0" smtClean="0"/>
              <a:t>)</a:t>
            </a:r>
            <a:endParaRPr lang="en-US" sz="2000" b="1" dirty="0" smtClean="0"/>
          </a:p>
          <a:p>
            <a:r>
              <a:rPr lang="en-US" sz="2000" b="1" dirty="0" smtClean="0"/>
              <a:t>8. Centralization and Decentralization</a:t>
            </a:r>
          </a:p>
          <a:p>
            <a:pPr algn="just"/>
            <a:r>
              <a:rPr lang="en-US" sz="2000" dirty="0" smtClean="0"/>
              <a:t>9</a:t>
            </a:r>
            <a:r>
              <a:rPr lang="en-US" sz="2000" b="1" dirty="0" smtClean="0"/>
              <a:t>. Line of Authority         ( Scalar Chain)</a:t>
            </a:r>
          </a:p>
          <a:p>
            <a:pPr algn="just"/>
            <a:r>
              <a:rPr lang="en-US" sz="2000" b="1" dirty="0" smtClean="0"/>
              <a:t>10. Order</a:t>
            </a:r>
          </a:p>
          <a:p>
            <a:pPr algn="just"/>
            <a:r>
              <a:rPr lang="en-US" sz="2000" b="1" dirty="0" smtClean="0"/>
              <a:t>11.Equity</a:t>
            </a:r>
          </a:p>
          <a:p>
            <a:pPr algn="just"/>
            <a:r>
              <a:rPr lang="en-US" sz="2000" b="1" dirty="0" smtClean="0"/>
              <a:t>12.Stability of Tenure (</a:t>
            </a:r>
            <a:r>
              <a:rPr lang="ne-NP" sz="2000" dirty="0" smtClean="0"/>
              <a:t>कार्यकाल</a:t>
            </a:r>
            <a:r>
              <a:rPr lang="en-US" sz="2000" dirty="0" smtClean="0"/>
              <a:t>)</a:t>
            </a:r>
            <a:endParaRPr lang="en-US" sz="2000" b="1" dirty="0" smtClean="0"/>
          </a:p>
          <a:p>
            <a:pPr algn="just"/>
            <a:r>
              <a:rPr lang="en-US" sz="2000" b="1" dirty="0" smtClean="0"/>
              <a:t>13. Initiative</a:t>
            </a:r>
          </a:p>
          <a:p>
            <a:pPr algn="just"/>
            <a:r>
              <a:rPr lang="en-US" sz="2000" b="1" dirty="0" smtClean="0"/>
              <a:t>14.Esprit de corps (sense of unity) </a:t>
            </a:r>
            <a:endParaRPr lang="en-US" sz="2000" b="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762000"/>
            <a:ext cx="8991600" cy="4955203"/>
          </a:xfrm>
          <a:prstGeom prst="rect">
            <a:avLst/>
          </a:prstGeom>
          <a:noFill/>
        </p:spPr>
        <p:txBody>
          <a:bodyPr wrap="square" rtlCol="0">
            <a:spAutoFit/>
          </a:bodyPr>
          <a:lstStyle/>
          <a:p>
            <a:r>
              <a:rPr lang="en-US" sz="2800" dirty="0" smtClean="0"/>
              <a:t>Contributions of Administrative Management Theory</a:t>
            </a:r>
          </a:p>
          <a:p>
            <a:endParaRPr lang="en-US" sz="2800" dirty="0" smtClean="0"/>
          </a:p>
          <a:p>
            <a:pPr>
              <a:buFont typeface="Wingdings" pitchFamily="2" charset="2"/>
              <a:buChar char="Ø"/>
            </a:pPr>
            <a:r>
              <a:rPr lang="en-US" sz="2000" dirty="0" smtClean="0"/>
              <a:t>This theory proposes five management functions as the foundation of study of management. They are planning organizing, commanding, coordinating and controlling. Such functions are common in any organization.</a:t>
            </a:r>
          </a:p>
          <a:p>
            <a:pPr>
              <a:buFont typeface="Wingdings" pitchFamily="2" charset="2"/>
              <a:buChar char="Ø"/>
            </a:pPr>
            <a:r>
              <a:rPr lang="en-US" sz="2000" dirty="0" smtClean="0"/>
              <a:t>This theory provides fourteen universally applicable principles of management which are taken as basic principles of management in all organization</a:t>
            </a:r>
          </a:p>
          <a:p>
            <a:pPr>
              <a:buFont typeface="Wingdings" pitchFamily="2" charset="2"/>
              <a:buChar char="Ø"/>
            </a:pPr>
            <a:r>
              <a:rPr lang="en-US" sz="2000" dirty="0" smtClean="0"/>
              <a:t>This theory advocates various skills and knowledge in manager to operate organizations more efficiently and effectively.</a:t>
            </a:r>
          </a:p>
          <a:p>
            <a:pPr>
              <a:buFont typeface="Wingdings" pitchFamily="2" charset="2"/>
              <a:buChar char="Ø"/>
            </a:pPr>
            <a:r>
              <a:rPr lang="en-US" sz="2000" dirty="0" err="1" smtClean="0"/>
              <a:t>Fayol</a:t>
            </a:r>
            <a:r>
              <a:rPr lang="en-US" sz="2000" dirty="0" smtClean="0"/>
              <a:t> classified the whole business activities into six categories as technical, commercial, financial, security, accounting and managerial. This helps to identify the activities to attain organizational goals and getting right man at right job</a:t>
            </a:r>
          </a:p>
          <a:p>
            <a:pPr>
              <a:buFont typeface="Wingdings" pitchFamily="2" charset="2"/>
              <a:buChar char="Ø"/>
            </a:pPr>
            <a:r>
              <a:rPr lang="en-US" sz="2000" dirty="0" smtClean="0"/>
              <a:t>This theory has provided avenue (</a:t>
            </a:r>
            <a:r>
              <a:rPr lang="ne-NP" sz="2000" dirty="0" smtClean="0"/>
              <a:t>बाटो</a:t>
            </a:r>
            <a:r>
              <a:rPr lang="en-US" sz="2000" dirty="0" smtClean="0"/>
              <a:t>) for modern management perspectives applicable in complex and dynamic business environment.</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762000"/>
            <a:ext cx="8763000" cy="4708981"/>
          </a:xfrm>
          <a:prstGeom prst="rect">
            <a:avLst/>
          </a:prstGeom>
          <a:noFill/>
        </p:spPr>
        <p:txBody>
          <a:bodyPr wrap="square" rtlCol="0">
            <a:spAutoFit/>
          </a:bodyPr>
          <a:lstStyle/>
          <a:p>
            <a:r>
              <a:rPr lang="en-US" sz="2800" dirty="0" smtClean="0"/>
              <a:t>Limitation of  Administrative Management Theory</a:t>
            </a:r>
          </a:p>
          <a:p>
            <a:endParaRPr lang="en-US" sz="2800" dirty="0" smtClean="0"/>
          </a:p>
          <a:p>
            <a:pPr>
              <a:buFont typeface="Wingdings" pitchFamily="2" charset="2"/>
              <a:buChar char="Ø"/>
            </a:pPr>
            <a:r>
              <a:rPr lang="en-US" sz="2400" dirty="0" smtClean="0"/>
              <a:t>This theory has limited application for the complex and dynamic business environment</a:t>
            </a:r>
          </a:p>
          <a:p>
            <a:pPr>
              <a:buFont typeface="Wingdings" pitchFamily="2" charset="2"/>
              <a:buChar char="Ø"/>
            </a:pPr>
            <a:r>
              <a:rPr lang="en-US" sz="2400" dirty="0" smtClean="0"/>
              <a:t>His principles cannot be applied universally in all situations as his claim.</a:t>
            </a:r>
          </a:p>
          <a:p>
            <a:pPr>
              <a:buFont typeface="Wingdings" pitchFamily="2" charset="2"/>
              <a:buChar char="Ø"/>
            </a:pPr>
            <a:r>
              <a:rPr lang="en-US" sz="2400" dirty="0" smtClean="0"/>
              <a:t>Human behavior and relations in organization are totally ignored in this theory but these things are more crucial in maintaining good industrial relations.</a:t>
            </a:r>
          </a:p>
          <a:p>
            <a:pPr>
              <a:buFont typeface="Wingdings" pitchFamily="2" charset="2"/>
              <a:buChar char="Ø"/>
            </a:pPr>
            <a:r>
              <a:rPr lang="en-US" sz="2400" dirty="0" smtClean="0"/>
              <a:t>Workers are treated as tools rather than resources. This theory is also mechanistic in nature.</a:t>
            </a:r>
          </a:p>
          <a:p>
            <a:pPr>
              <a:buFont typeface="Wingdings" pitchFamily="2" charset="2"/>
              <a:buChar char="Ø"/>
            </a:pPr>
            <a:endParaRPr lang="en-US"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838200"/>
            <a:ext cx="8686800" cy="3908762"/>
          </a:xfrm>
          <a:prstGeom prst="rect">
            <a:avLst/>
          </a:prstGeom>
          <a:noFill/>
        </p:spPr>
        <p:txBody>
          <a:bodyPr wrap="square" rtlCol="0">
            <a:spAutoFit/>
          </a:bodyPr>
          <a:lstStyle/>
          <a:p>
            <a:r>
              <a:rPr lang="en-US" sz="2800" dirty="0" smtClean="0"/>
              <a:t>3. </a:t>
            </a:r>
            <a:r>
              <a:rPr lang="en-US" sz="2800" b="1" dirty="0" smtClean="0"/>
              <a:t>Theory of Scientific Management</a:t>
            </a:r>
            <a:r>
              <a:rPr lang="en-US" sz="2800" b="1" dirty="0" smtClean="0">
                <a:sym typeface="Wingdings" pitchFamily="2" charset="2"/>
              </a:rPr>
              <a:t> Frederick Taylor</a:t>
            </a:r>
            <a:endParaRPr lang="en-US" sz="2800" dirty="0" smtClean="0">
              <a:sym typeface="Wingdings" pitchFamily="2" charset="2"/>
            </a:endParaRPr>
          </a:p>
          <a:p>
            <a:pPr algn="just"/>
            <a:r>
              <a:rPr lang="en-US" sz="2400" dirty="0" smtClean="0">
                <a:sym typeface="Wingdings" pitchFamily="2" charset="2"/>
              </a:rPr>
              <a:t>It  uses scientific methods to analyze the most efficient production process in order to increase productivity. Taylor’s scientific management theory argued it was the job of workplace managers to develop the  proper production system for achieving economic efficiency.</a:t>
            </a:r>
          </a:p>
          <a:p>
            <a:pPr algn="just"/>
            <a:r>
              <a:rPr lang="en-US" sz="2400" dirty="0" smtClean="0">
                <a:sym typeface="Wingdings" pitchFamily="2" charset="2"/>
              </a:rPr>
              <a:t>Taylor proposed that by optimizing and simplifying jobs, productivity would increase. He also advanced the idea that workers and managers needed to cooperate with one another.</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914400"/>
            <a:ext cx="8610600" cy="4893647"/>
          </a:xfrm>
          <a:prstGeom prst="rect">
            <a:avLst/>
          </a:prstGeom>
          <a:noFill/>
        </p:spPr>
        <p:txBody>
          <a:bodyPr wrap="square" rtlCol="0">
            <a:spAutoFit/>
          </a:bodyPr>
          <a:lstStyle/>
          <a:p>
            <a:pPr algn="just"/>
            <a:r>
              <a:rPr lang="en-US" sz="2800" b="1" dirty="0" smtClean="0"/>
              <a:t>Winslow Taylor </a:t>
            </a:r>
            <a:r>
              <a:rPr lang="en-US" sz="2800" dirty="0" smtClean="0"/>
              <a:t>suggests that every unnecessary effort should be removed and workers fatigue should be reduced considerably, this is believed that by doing activities in a systematic manner can solve the managerial and industrial problems. His theory is based on different studies as follows</a:t>
            </a:r>
          </a:p>
          <a:p>
            <a:pPr>
              <a:buFont typeface="Wingdings" pitchFamily="2" charset="2"/>
              <a:buChar char="Ø"/>
            </a:pPr>
            <a:r>
              <a:rPr lang="en-US" sz="3600" b="1" dirty="0" smtClean="0"/>
              <a:t>Motion Study</a:t>
            </a:r>
          </a:p>
          <a:p>
            <a:pPr>
              <a:buFont typeface="Wingdings" pitchFamily="2" charset="2"/>
              <a:buChar char="Ø"/>
            </a:pPr>
            <a:r>
              <a:rPr lang="en-US" sz="3600" b="1" dirty="0" smtClean="0"/>
              <a:t>Time Study</a:t>
            </a:r>
          </a:p>
          <a:p>
            <a:pPr>
              <a:buFont typeface="Wingdings" pitchFamily="2" charset="2"/>
              <a:buChar char="Ø"/>
            </a:pPr>
            <a:r>
              <a:rPr lang="en-US" sz="3600" b="1" dirty="0" smtClean="0"/>
              <a:t>Fatigue Study</a:t>
            </a:r>
          </a:p>
          <a:p>
            <a:pPr>
              <a:buFont typeface="Wingdings" pitchFamily="2" charset="2"/>
              <a:buChar char="Ø"/>
            </a:pPr>
            <a:r>
              <a:rPr lang="en-US" sz="3600" b="1" dirty="0"/>
              <a:t>R</a:t>
            </a:r>
            <a:r>
              <a:rPr lang="en-US" sz="3600" b="1" dirty="0" smtClean="0"/>
              <a:t>ate setting</a:t>
            </a:r>
            <a:endParaRPr lang="en-US" sz="3600" b="1"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762000"/>
            <a:ext cx="8763000" cy="5386090"/>
          </a:xfrm>
          <a:prstGeom prst="rect">
            <a:avLst/>
          </a:prstGeom>
          <a:noFill/>
        </p:spPr>
        <p:txBody>
          <a:bodyPr wrap="square" rtlCol="0">
            <a:spAutoFit/>
          </a:bodyPr>
          <a:lstStyle/>
          <a:p>
            <a:r>
              <a:rPr lang="en-US" sz="2800" b="1" dirty="0" smtClean="0"/>
              <a:t>Principles of Scientific Management</a:t>
            </a:r>
          </a:p>
          <a:p>
            <a:endParaRPr lang="en-US" sz="2800" b="1" dirty="0" smtClean="0"/>
          </a:p>
          <a:p>
            <a:pPr marL="514350" indent="-514350">
              <a:buAutoNum type="arabicPeriod"/>
            </a:pPr>
            <a:r>
              <a:rPr lang="en-US" sz="2400" b="1" dirty="0" smtClean="0"/>
              <a:t>Select methods based on science, not “rule of thumb”.( rule of thumb=</a:t>
            </a:r>
            <a:r>
              <a:rPr lang="en-US" sz="2400" b="1" dirty="0"/>
              <a:t> the decisions taken by the manager based on his personal </a:t>
            </a:r>
            <a:r>
              <a:rPr lang="en-US" sz="2400" b="1" dirty="0" smtClean="0"/>
              <a:t>judgments)</a:t>
            </a:r>
          </a:p>
          <a:p>
            <a:pPr marL="514350" indent="-514350">
              <a:buAutoNum type="arabicPeriod"/>
            </a:pPr>
            <a:r>
              <a:rPr lang="en-US" sz="2400" b="1" dirty="0" smtClean="0"/>
              <a:t>Assign workers jobs based on their aptitudes(</a:t>
            </a:r>
            <a:r>
              <a:rPr lang="ne-NP" sz="2400" dirty="0" smtClean="0"/>
              <a:t>योग्यता</a:t>
            </a:r>
            <a:r>
              <a:rPr lang="en-US" sz="2400" b="1" dirty="0" smtClean="0"/>
              <a:t>)</a:t>
            </a:r>
          </a:p>
          <a:p>
            <a:pPr marL="514350" indent="-514350">
              <a:buAutoNum type="arabicPeriod"/>
            </a:pPr>
            <a:r>
              <a:rPr lang="en-US" sz="2400" b="1" dirty="0" smtClean="0"/>
              <a:t>Cooperation, not Individualism</a:t>
            </a:r>
          </a:p>
          <a:p>
            <a:pPr marL="514350" indent="-514350">
              <a:buAutoNum type="arabicPeriod"/>
            </a:pPr>
            <a:r>
              <a:rPr lang="en-US" sz="2400" b="1" dirty="0" smtClean="0"/>
              <a:t>Monitor  worker performance</a:t>
            </a:r>
          </a:p>
          <a:p>
            <a:pPr marL="514350" indent="-514350">
              <a:buAutoNum type="arabicPeriod"/>
            </a:pPr>
            <a:r>
              <a:rPr lang="en-US" sz="2400" b="1" dirty="0" smtClean="0"/>
              <a:t>Maximum output in place of restricted output</a:t>
            </a:r>
          </a:p>
          <a:p>
            <a:pPr marL="514350" indent="-514350"/>
            <a:r>
              <a:rPr lang="en-US" sz="2400" b="1" dirty="0" smtClean="0"/>
              <a:t>(man money machine and material to get maximum profit)</a:t>
            </a:r>
          </a:p>
          <a:p>
            <a:pPr marL="514350" indent="-514350"/>
            <a:r>
              <a:rPr lang="en-US" sz="2400" b="1" dirty="0" smtClean="0"/>
              <a:t>6. Properly divide the  workload between managers and workers</a:t>
            </a:r>
          </a:p>
          <a:p>
            <a:pPr marL="514350" indent="-514350"/>
            <a:r>
              <a:rPr lang="en-US" sz="2400" b="1" dirty="0" smtClean="0"/>
              <a:t>7. Development of individuals for their greatest efficiency and propensity(</a:t>
            </a:r>
            <a:r>
              <a:rPr lang="ne-NP" sz="2400" dirty="0" smtClean="0"/>
              <a:t>प्रवृत्ति</a:t>
            </a:r>
            <a:r>
              <a:rPr lang="en-US" sz="2400" dirty="0" smtClean="0"/>
              <a:t>)</a:t>
            </a:r>
            <a:endParaRPr lang="en-US" sz="2400" b="1"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733246"/>
            <a:ext cx="8229600" cy="6124754"/>
          </a:xfrm>
          <a:prstGeom prst="rect">
            <a:avLst/>
          </a:prstGeom>
          <a:noFill/>
        </p:spPr>
        <p:txBody>
          <a:bodyPr wrap="square" rtlCol="0">
            <a:spAutoFit/>
          </a:bodyPr>
          <a:lstStyle/>
          <a:p>
            <a:r>
              <a:rPr lang="en-US" sz="2800" b="1" dirty="0" smtClean="0"/>
              <a:t>Contributions of Scientific Management Theory</a:t>
            </a:r>
          </a:p>
          <a:p>
            <a:endParaRPr lang="en-US" sz="2800" dirty="0" smtClean="0"/>
          </a:p>
          <a:p>
            <a:pPr algn="just">
              <a:buFont typeface="Wingdings" pitchFamily="2" charset="2"/>
              <a:buChar char="Ø"/>
            </a:pPr>
            <a:r>
              <a:rPr lang="en-US" sz="2400" dirty="0" smtClean="0"/>
              <a:t>It has promoted mass production through high productivity and efficiency techniques</a:t>
            </a:r>
          </a:p>
          <a:p>
            <a:pPr algn="just">
              <a:buFont typeface="Wingdings" pitchFamily="2" charset="2"/>
              <a:buChar char="Ø"/>
            </a:pPr>
            <a:r>
              <a:rPr lang="en-US" sz="2400" dirty="0" smtClean="0"/>
              <a:t>It has introduced rational and systematic methods to solve the industrial and management problems</a:t>
            </a:r>
          </a:p>
          <a:p>
            <a:pPr algn="just">
              <a:buFont typeface="Wingdings" pitchFamily="2" charset="2"/>
              <a:buChar char="Ø"/>
            </a:pPr>
            <a:r>
              <a:rPr lang="en-US" sz="2400" dirty="0" smtClean="0"/>
              <a:t>It has emphasized on improved working conditions by reducing fatigue and redesigning machines</a:t>
            </a:r>
          </a:p>
          <a:p>
            <a:pPr algn="just">
              <a:buFont typeface="Wingdings" pitchFamily="2" charset="2"/>
              <a:buChar char="Ø"/>
            </a:pPr>
            <a:r>
              <a:rPr lang="en-US" sz="2400" dirty="0" smtClean="0"/>
              <a:t>It facilitates the job design through specialization and standardization of work.</a:t>
            </a:r>
          </a:p>
          <a:p>
            <a:pPr algn="just">
              <a:buFont typeface="Wingdings" pitchFamily="2" charset="2"/>
              <a:buChar char="Ø"/>
            </a:pPr>
            <a:r>
              <a:rPr lang="en-US" sz="2400" dirty="0" smtClean="0"/>
              <a:t>It has  emphasized on importance of recruitment(</a:t>
            </a:r>
            <a:r>
              <a:rPr lang="ne-NP" sz="2400" dirty="0" smtClean="0"/>
              <a:t>भर्ती</a:t>
            </a:r>
            <a:r>
              <a:rPr lang="en-US" sz="2400" dirty="0" smtClean="0"/>
              <a:t>)  selection, training and development, performance and compensation system for workers to improve efficiency.</a:t>
            </a:r>
          </a:p>
          <a:p>
            <a:pPr algn="just">
              <a:buFont typeface="Wingdings" pitchFamily="2" charset="2"/>
              <a:buChar char="Ø"/>
            </a:pPr>
            <a:r>
              <a:rPr lang="en-US" sz="2400" dirty="0" smtClean="0"/>
              <a:t>It has suggested time study, motion study, fatigue study, and rate setting study for developing management system to increase productivity.</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457200"/>
            <a:ext cx="8382000" cy="5386090"/>
          </a:xfrm>
          <a:prstGeom prst="rect">
            <a:avLst/>
          </a:prstGeom>
          <a:noFill/>
        </p:spPr>
        <p:txBody>
          <a:bodyPr wrap="square" rtlCol="0">
            <a:spAutoFit/>
          </a:bodyPr>
          <a:lstStyle/>
          <a:p>
            <a:r>
              <a:rPr lang="en-US" sz="2800" b="1" dirty="0" smtClean="0"/>
              <a:t>Limitations of Scientific Management Theory</a:t>
            </a:r>
          </a:p>
          <a:p>
            <a:endParaRPr lang="en-US" sz="2800" dirty="0" smtClean="0"/>
          </a:p>
          <a:p>
            <a:pPr>
              <a:buFont typeface="Wingdings" pitchFamily="2" charset="2"/>
              <a:buChar char="Ø"/>
            </a:pPr>
            <a:r>
              <a:rPr lang="en-US" sz="2400" dirty="0" smtClean="0"/>
              <a:t>This theory treats man as a </a:t>
            </a:r>
            <a:r>
              <a:rPr lang="en-US" sz="2400" u="sng" dirty="0" smtClean="0"/>
              <a:t>machine</a:t>
            </a:r>
            <a:r>
              <a:rPr lang="en-US" sz="2400" dirty="0" smtClean="0"/>
              <a:t>. Less applicable in dynamic and complex organizational setting. Workers feel greater exploitation</a:t>
            </a:r>
          </a:p>
          <a:p>
            <a:pPr>
              <a:buFont typeface="Wingdings" pitchFamily="2" charset="2"/>
              <a:buChar char="Ø"/>
            </a:pPr>
            <a:r>
              <a:rPr lang="en-US" sz="2400" dirty="0" smtClean="0"/>
              <a:t>This theory believes only in </a:t>
            </a:r>
            <a:r>
              <a:rPr lang="en-US" sz="2400" u="sng" dirty="0" smtClean="0"/>
              <a:t>financial incentives</a:t>
            </a:r>
            <a:r>
              <a:rPr lang="en-US" sz="2400" dirty="0" smtClean="0"/>
              <a:t>. This views of employee motivation are inadequate and narrow.</a:t>
            </a:r>
          </a:p>
          <a:p>
            <a:pPr>
              <a:buFont typeface="Wingdings" pitchFamily="2" charset="2"/>
              <a:buChar char="Ø"/>
            </a:pPr>
            <a:r>
              <a:rPr lang="en-US" sz="2400" dirty="0" smtClean="0"/>
              <a:t>Ignores </a:t>
            </a:r>
            <a:r>
              <a:rPr lang="en-US" sz="2400" u="sng" dirty="0" smtClean="0"/>
              <a:t>psychological and sociological </a:t>
            </a:r>
            <a:r>
              <a:rPr lang="en-US" sz="2400" dirty="0" smtClean="0"/>
              <a:t>aspects of worker which cannot increase cooperation and coordination among workers and management.</a:t>
            </a:r>
          </a:p>
          <a:p>
            <a:pPr>
              <a:buFont typeface="Wingdings" pitchFamily="2" charset="2"/>
              <a:buChar char="Ø"/>
            </a:pPr>
            <a:r>
              <a:rPr lang="en-US" sz="2400" dirty="0" smtClean="0"/>
              <a:t>As this principle focused to </a:t>
            </a:r>
            <a:r>
              <a:rPr lang="en-US" sz="2400" u="sng" dirty="0" smtClean="0"/>
              <a:t>individual performance </a:t>
            </a:r>
            <a:r>
              <a:rPr lang="en-US" sz="2400" dirty="0" smtClean="0"/>
              <a:t>and effectiveness rather than group and team performance. It becomes difficult to develop </a:t>
            </a:r>
            <a:r>
              <a:rPr lang="en-US" sz="2400" u="sng" dirty="0" smtClean="0"/>
              <a:t>coordination and cooperation </a:t>
            </a:r>
            <a:r>
              <a:rPr lang="en-US" sz="2400" dirty="0" smtClean="0"/>
              <a:t>among individual as well as different units of organization.</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8686800" cy="3847207"/>
          </a:xfrm>
          <a:prstGeom prst="rect">
            <a:avLst/>
          </a:prstGeom>
          <a:noFill/>
        </p:spPr>
        <p:txBody>
          <a:bodyPr wrap="square" rtlCol="0">
            <a:spAutoFit/>
          </a:bodyPr>
          <a:lstStyle/>
          <a:p>
            <a:r>
              <a:rPr lang="en-US" sz="2800" b="1" dirty="0" smtClean="0"/>
              <a:t>Neo Classical Approach Of Management</a:t>
            </a:r>
          </a:p>
          <a:p>
            <a:r>
              <a:rPr lang="en-US" sz="2800" b="1" dirty="0" smtClean="0"/>
              <a:t> It is the combination of </a:t>
            </a:r>
          </a:p>
          <a:p>
            <a:endParaRPr lang="en-US" sz="2800" b="1" dirty="0" smtClean="0"/>
          </a:p>
          <a:p>
            <a:r>
              <a:rPr lang="en-US" sz="2800" b="1" dirty="0" smtClean="0"/>
              <a:t>HUMAN RELATIONS  THEOEY</a:t>
            </a:r>
          </a:p>
          <a:p>
            <a:pPr algn="ctr"/>
            <a:r>
              <a:rPr lang="en-US" sz="2800" b="1" dirty="0" smtClean="0"/>
              <a:t>AND</a:t>
            </a:r>
          </a:p>
          <a:p>
            <a:r>
              <a:rPr lang="en-US" sz="2800" b="1" dirty="0" smtClean="0"/>
              <a:t> BEHAVIOR SCIENCE THEORY OF MANAGEMENT</a:t>
            </a:r>
          </a:p>
          <a:p>
            <a:r>
              <a:rPr lang="en-US" sz="2800" b="1" dirty="0" smtClean="0"/>
              <a:t> </a:t>
            </a:r>
          </a:p>
          <a:p>
            <a:r>
              <a:rPr lang="en-US" sz="2400" b="1" dirty="0" smtClean="0"/>
              <a:t>Hence it is also known as </a:t>
            </a:r>
            <a:r>
              <a:rPr lang="en-US" sz="2400" b="1" u="sng" dirty="0" smtClean="0"/>
              <a:t>Human Relation and Behavioral Science Theory of Management </a:t>
            </a:r>
            <a:endParaRPr lang="en-US" sz="2400" b="1" u="sng"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762000"/>
            <a:ext cx="8915400" cy="5386090"/>
          </a:xfrm>
          <a:prstGeom prst="rect">
            <a:avLst/>
          </a:prstGeom>
          <a:noFill/>
        </p:spPr>
        <p:txBody>
          <a:bodyPr wrap="square" rtlCol="0">
            <a:spAutoFit/>
          </a:bodyPr>
          <a:lstStyle/>
          <a:p>
            <a:r>
              <a:rPr lang="en-US" sz="2800" b="1" dirty="0" smtClean="0"/>
              <a:t>HUMAN RELATIONS AND BEHAVIOR SCIENCE THEORY OF MANAGEMENT</a:t>
            </a:r>
          </a:p>
          <a:p>
            <a:pPr algn="just"/>
            <a:r>
              <a:rPr lang="en-US" sz="2400" dirty="0" smtClean="0"/>
              <a:t>The classical perspectives were suitable in the industrialized era of mass production. But some management experts did not agree with the principle of  classical perspective because of their </a:t>
            </a:r>
            <a:r>
              <a:rPr lang="en-US" sz="2400" u="sng" dirty="0" smtClean="0"/>
              <a:t>rigidity </a:t>
            </a:r>
            <a:r>
              <a:rPr lang="en-US" sz="2400" dirty="0" smtClean="0"/>
              <a:t>and </a:t>
            </a:r>
            <a:r>
              <a:rPr lang="en-US" sz="2400" u="sng" dirty="0" smtClean="0"/>
              <a:t>ignorance of human sentiments</a:t>
            </a:r>
            <a:r>
              <a:rPr lang="en-US" sz="2400" dirty="0" smtClean="0"/>
              <a:t>. Hence they established new principles and perspectives to minimize the criticism and  drawbacks of classical perspectives. Those new thinking gave more </a:t>
            </a:r>
            <a:r>
              <a:rPr lang="en-US" sz="2400" u="sng" dirty="0" smtClean="0"/>
              <a:t>emphasis on human relation and behavior approach </a:t>
            </a:r>
            <a:r>
              <a:rPr lang="en-US" sz="2400" dirty="0" smtClean="0"/>
              <a:t>on work place. </a:t>
            </a:r>
            <a:r>
              <a:rPr lang="en-US" sz="2400" b="1" dirty="0" smtClean="0"/>
              <a:t>Robert Owen(</a:t>
            </a:r>
            <a:r>
              <a:rPr lang="ne-NP" sz="2400" dirty="0" smtClean="0"/>
              <a:t>रोबर्ट ओवेन</a:t>
            </a:r>
            <a:r>
              <a:rPr lang="en-US" sz="2400" dirty="0" smtClean="0"/>
              <a:t>), </a:t>
            </a:r>
            <a:r>
              <a:rPr lang="en-US" sz="2400" b="1" dirty="0" smtClean="0"/>
              <a:t>Elton Mayo</a:t>
            </a:r>
            <a:r>
              <a:rPr lang="en-US" sz="2400" dirty="0" smtClean="0"/>
              <a:t>, </a:t>
            </a:r>
            <a:r>
              <a:rPr lang="en-US" sz="2400" b="1" dirty="0" smtClean="0"/>
              <a:t>Chester Bernard(</a:t>
            </a:r>
            <a:r>
              <a:rPr lang="ne-NP" sz="2400" dirty="0" smtClean="0"/>
              <a:t>चेस्टर बर्नार्ड</a:t>
            </a:r>
            <a:r>
              <a:rPr lang="en-US" sz="2400" dirty="0" smtClean="0"/>
              <a:t>)</a:t>
            </a:r>
            <a:r>
              <a:rPr lang="en-US" sz="2400" b="1" dirty="0" smtClean="0"/>
              <a:t> </a:t>
            </a:r>
            <a:r>
              <a:rPr lang="en-US" sz="2400" dirty="0" smtClean="0"/>
              <a:t>and </a:t>
            </a:r>
            <a:r>
              <a:rPr lang="en-US" sz="2400" b="1" dirty="0"/>
              <a:t>M</a:t>
            </a:r>
            <a:r>
              <a:rPr lang="en-US" sz="2400" b="1" dirty="0" smtClean="0"/>
              <a:t>ary </a:t>
            </a:r>
            <a:r>
              <a:rPr lang="en-US" sz="2400" b="1" dirty="0"/>
              <a:t>P</a:t>
            </a:r>
            <a:r>
              <a:rPr lang="en-US" sz="2400" b="1" dirty="0" smtClean="0"/>
              <a:t>arker </a:t>
            </a:r>
            <a:r>
              <a:rPr lang="en-US" sz="2400" b="1" dirty="0" err="1" smtClean="0"/>
              <a:t>Follet</a:t>
            </a:r>
            <a:r>
              <a:rPr lang="en-US" sz="2400" dirty="0" smtClean="0"/>
              <a:t>(</a:t>
            </a:r>
            <a:r>
              <a:rPr lang="ne-NP" sz="2400" dirty="0" smtClean="0"/>
              <a:t>मेरी पार्कर फोलेट</a:t>
            </a:r>
            <a:r>
              <a:rPr lang="en-US" sz="2400" dirty="0" smtClean="0"/>
              <a:t>)Are the main contributors of these perspectives. According to them management should have greater emphasis on human and social factors along with the specialization in job design.  </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1000" y="762000"/>
            <a:ext cx="8763000" cy="2677656"/>
          </a:xfrm>
          <a:prstGeom prst="rect">
            <a:avLst/>
          </a:prstGeom>
          <a:noFill/>
        </p:spPr>
        <p:txBody>
          <a:bodyPr wrap="square" rtlCol="0">
            <a:spAutoFit/>
          </a:bodyPr>
          <a:lstStyle/>
          <a:p>
            <a:pPr algn="just"/>
            <a:r>
              <a:rPr lang="en-US" sz="2400" dirty="0" smtClean="0"/>
              <a:t>Workers cannot be motivated only by monetary incentives but they should be treated morally. Managers should understand their </a:t>
            </a:r>
            <a:r>
              <a:rPr lang="en-US" sz="2400" u="sng" dirty="0" smtClean="0"/>
              <a:t>psychology to motivate </a:t>
            </a:r>
            <a:r>
              <a:rPr lang="en-US" sz="2400" dirty="0" smtClean="0"/>
              <a:t>them effectively. Group dynamic </a:t>
            </a:r>
            <a:r>
              <a:rPr lang="en-US" sz="2400" u="sng" dirty="0" smtClean="0"/>
              <a:t>participative management</a:t>
            </a:r>
            <a:r>
              <a:rPr lang="en-US" sz="2400" dirty="0" smtClean="0"/>
              <a:t>, </a:t>
            </a:r>
            <a:r>
              <a:rPr lang="en-US" sz="2400" u="sng" dirty="0" smtClean="0"/>
              <a:t>two way communication</a:t>
            </a:r>
            <a:r>
              <a:rPr lang="en-US" sz="2400" dirty="0" smtClean="0"/>
              <a:t>, </a:t>
            </a:r>
            <a:r>
              <a:rPr lang="en-US" sz="2400" u="sng" dirty="0" smtClean="0"/>
              <a:t>personality development</a:t>
            </a:r>
            <a:r>
              <a:rPr lang="en-US" sz="2400" dirty="0" smtClean="0"/>
              <a:t>, </a:t>
            </a:r>
            <a:r>
              <a:rPr lang="en-US" sz="2400" u="sng" dirty="0" smtClean="0"/>
              <a:t>non-financial motivation</a:t>
            </a:r>
            <a:r>
              <a:rPr lang="en-US" sz="2400" dirty="0" smtClean="0"/>
              <a:t> and </a:t>
            </a:r>
            <a:r>
              <a:rPr lang="en-US" sz="2400" u="sng" dirty="0" smtClean="0"/>
              <a:t>democratic leadership</a:t>
            </a:r>
            <a:r>
              <a:rPr lang="en-US" sz="2400" dirty="0" smtClean="0"/>
              <a:t> in management are important aspects of these perspectives. It include following Theories </a:t>
            </a:r>
            <a:endParaRPr lang="en-US" sz="2400" dirty="0"/>
          </a:p>
        </p:txBody>
      </p:sp>
      <p:sp>
        <p:nvSpPr>
          <p:cNvPr id="3" name="TextBox 2"/>
          <p:cNvSpPr txBox="1"/>
          <p:nvPr/>
        </p:nvSpPr>
        <p:spPr>
          <a:xfrm>
            <a:off x="381000" y="3733800"/>
            <a:ext cx="8458200" cy="1938992"/>
          </a:xfrm>
          <a:prstGeom prst="rect">
            <a:avLst/>
          </a:prstGeom>
          <a:noFill/>
        </p:spPr>
        <p:txBody>
          <a:bodyPr wrap="square" rtlCol="0">
            <a:spAutoFit/>
          </a:bodyPr>
          <a:lstStyle/>
          <a:p>
            <a:pPr>
              <a:buFont typeface="Wingdings" pitchFamily="2" charset="2"/>
              <a:buChar char="Ø"/>
            </a:pPr>
            <a:r>
              <a:rPr lang="en-US" sz="2400" b="1" dirty="0" smtClean="0"/>
              <a:t> HUMAN RELATION THEORY </a:t>
            </a:r>
            <a:r>
              <a:rPr lang="en-US" b="1" dirty="0" smtClean="0"/>
              <a:t>( Based on following experiment) &gt;Illumination experiment,</a:t>
            </a:r>
          </a:p>
          <a:p>
            <a:r>
              <a:rPr lang="en-US" b="1" dirty="0" smtClean="0"/>
              <a:t>&gt;Relay-assembly tests, </a:t>
            </a:r>
          </a:p>
          <a:p>
            <a:r>
              <a:rPr lang="en-US" b="1" dirty="0" smtClean="0"/>
              <a:t>&gt;Mass interviewing </a:t>
            </a:r>
            <a:r>
              <a:rPr lang="en-US" b="1" dirty="0" err="1" smtClean="0"/>
              <a:t>programme</a:t>
            </a:r>
            <a:endParaRPr lang="en-US" b="1" dirty="0" smtClean="0"/>
          </a:p>
          <a:p>
            <a:r>
              <a:rPr lang="en-US" b="1" dirty="0" smtClean="0"/>
              <a:t>&gt;Bank wiring observation room experiment.</a:t>
            </a:r>
            <a:endParaRPr lang="en-US" dirty="0" smtClean="0"/>
          </a:p>
          <a:p>
            <a:pPr>
              <a:buFont typeface="Wingdings" pitchFamily="2" charset="2"/>
              <a:buChar char="Ø"/>
            </a:pPr>
            <a:r>
              <a:rPr lang="en-US" dirty="0" smtClean="0"/>
              <a:t> </a:t>
            </a:r>
            <a:r>
              <a:rPr lang="en-US" sz="2400" b="1" dirty="0" smtClean="0"/>
              <a:t>BEHAVIORAL SCIENCE PERSPECTIVES</a:t>
            </a:r>
            <a:endParaRPr lang="en-US" sz="2400" b="1"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457200"/>
            <a:ext cx="8610600" cy="2708434"/>
          </a:xfrm>
          <a:prstGeom prst="rect">
            <a:avLst/>
          </a:prstGeom>
          <a:noFill/>
        </p:spPr>
        <p:txBody>
          <a:bodyPr wrap="square" rtlCol="0">
            <a:spAutoFit/>
          </a:bodyPr>
          <a:lstStyle/>
          <a:p>
            <a:r>
              <a:rPr lang="en-US" sz="2400" b="1" dirty="0" smtClean="0"/>
              <a:t>Hawthorne Experiment</a:t>
            </a:r>
            <a:endParaRPr lang="en-US" sz="2400" dirty="0" smtClean="0"/>
          </a:p>
          <a:p>
            <a:pPr algn="just"/>
            <a:r>
              <a:rPr lang="en-US" sz="2400" dirty="0" smtClean="0"/>
              <a:t>(</a:t>
            </a:r>
            <a:r>
              <a:rPr lang="en-US" sz="2400" b="1" dirty="0" smtClean="0"/>
              <a:t>TO  FIND OUT HOW VARYING LEVELS OF ILLUMINATION   AFFECT  THE  PRODUCTIVITY  </a:t>
            </a:r>
            <a:r>
              <a:rPr lang="en-US" sz="2400" dirty="0" smtClean="0"/>
              <a:t>)</a:t>
            </a:r>
          </a:p>
          <a:p>
            <a:endParaRPr lang="en-US" dirty="0" smtClean="0"/>
          </a:p>
          <a:p>
            <a:r>
              <a:rPr lang="en-US" sz="2000" b="1" dirty="0" smtClean="0"/>
              <a:t>Hypothesis :- increase in illumination – productivity increase</a:t>
            </a:r>
          </a:p>
          <a:p>
            <a:r>
              <a:rPr lang="en-US" sz="2000" dirty="0" smtClean="0"/>
              <a:t>By Georg Elton Mayo(Australian psychologist and sociologist)  </a:t>
            </a:r>
            <a:r>
              <a:rPr lang="en-US" sz="2000" dirty="0" smtClean="0">
                <a:sym typeface="Wingdings"/>
              </a:rPr>
              <a:t></a:t>
            </a:r>
            <a:r>
              <a:rPr lang="en-US" sz="2000" dirty="0" smtClean="0"/>
              <a:t> </a:t>
            </a:r>
          </a:p>
          <a:p>
            <a:r>
              <a:rPr lang="en-US" sz="2000" b="1" dirty="0" smtClean="0"/>
              <a:t>Hawthorne Experiment </a:t>
            </a:r>
          </a:p>
          <a:p>
            <a:endParaRPr lang="en-US" sz="2000" b="1" dirty="0"/>
          </a:p>
        </p:txBody>
      </p:sp>
      <p:sp>
        <p:nvSpPr>
          <p:cNvPr id="6" name="TextBox 5"/>
          <p:cNvSpPr txBox="1"/>
          <p:nvPr/>
        </p:nvSpPr>
        <p:spPr>
          <a:xfrm>
            <a:off x="685800" y="2667000"/>
            <a:ext cx="7162800" cy="1015663"/>
          </a:xfrm>
          <a:prstGeom prst="rect">
            <a:avLst/>
          </a:prstGeom>
          <a:noFill/>
        </p:spPr>
        <p:txBody>
          <a:bodyPr wrap="square" rtlCol="0">
            <a:spAutoFit/>
          </a:bodyPr>
          <a:lstStyle/>
          <a:p>
            <a:r>
              <a:rPr lang="en-US" sz="2000" dirty="0" smtClean="0"/>
              <a:t>                                             Control group</a:t>
            </a:r>
          </a:p>
          <a:p>
            <a:r>
              <a:rPr lang="en-US" sz="2000" dirty="0" smtClean="0"/>
              <a:t>Workers groups</a:t>
            </a:r>
          </a:p>
          <a:p>
            <a:r>
              <a:rPr lang="en-US" sz="2000" dirty="0" smtClean="0"/>
              <a:t>                                              Experimental group</a:t>
            </a:r>
            <a:endParaRPr lang="en-US" sz="2000" dirty="0"/>
          </a:p>
        </p:txBody>
      </p:sp>
      <p:cxnSp>
        <p:nvCxnSpPr>
          <p:cNvPr id="8" name="Straight Connector 7"/>
          <p:cNvCxnSpPr/>
          <p:nvPr/>
        </p:nvCxnSpPr>
        <p:spPr>
          <a:xfrm>
            <a:off x="2590800" y="3200400"/>
            <a:ext cx="7620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rot="5400000">
            <a:off x="3048794" y="3199606"/>
            <a:ext cx="6096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V="1">
            <a:off x="3352800" y="2895600"/>
            <a:ext cx="15240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3352800" y="3429000"/>
            <a:ext cx="228600" cy="76200"/>
          </a:xfrm>
          <a:prstGeom prst="line">
            <a:avLst/>
          </a:prstGeom>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609600" y="3903345"/>
            <a:ext cx="8077200" cy="2954655"/>
          </a:xfrm>
          <a:prstGeom prst="rect">
            <a:avLst/>
          </a:prstGeom>
          <a:noFill/>
        </p:spPr>
        <p:txBody>
          <a:bodyPr wrap="square" rtlCol="0">
            <a:spAutoFit/>
          </a:bodyPr>
          <a:lstStyle/>
          <a:p>
            <a:r>
              <a:rPr lang="en-US" sz="2400" b="1" dirty="0" smtClean="0"/>
              <a:t>Observation </a:t>
            </a:r>
          </a:p>
          <a:p>
            <a:r>
              <a:rPr lang="en-US" sz="2400" dirty="0" smtClean="0"/>
              <a:t> </a:t>
            </a:r>
            <a:r>
              <a:rPr lang="en-US" sz="2400" u="sng" dirty="0" smtClean="0"/>
              <a:t>Increase in illumination, both group increases in production</a:t>
            </a:r>
          </a:p>
          <a:p>
            <a:r>
              <a:rPr lang="en-US" sz="2400" u="sng" dirty="0" smtClean="0"/>
              <a:t>Decrease in illumination, both group, increase in production</a:t>
            </a:r>
          </a:p>
          <a:p>
            <a:r>
              <a:rPr lang="en-US" sz="2400" u="sng" dirty="0" smtClean="0"/>
              <a:t>Decrease in illumination to moonlight, decrease in production</a:t>
            </a:r>
          </a:p>
          <a:p>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838200"/>
            <a:ext cx="8686800" cy="1477328"/>
          </a:xfrm>
          <a:prstGeom prst="rect">
            <a:avLst/>
          </a:prstGeom>
          <a:noFill/>
        </p:spPr>
        <p:txBody>
          <a:bodyPr wrap="square" rtlCol="0">
            <a:spAutoFit/>
          </a:bodyPr>
          <a:lstStyle/>
          <a:p>
            <a:r>
              <a:rPr lang="en-US" sz="2400" dirty="0" smtClean="0"/>
              <a:t>Conclusion- </a:t>
            </a:r>
            <a:r>
              <a:rPr lang="en-US" sz="2400" b="1" u="sng" dirty="0" smtClean="0"/>
              <a:t>illumination didn’t have any effect on productivity</a:t>
            </a:r>
          </a:p>
          <a:p>
            <a:r>
              <a:rPr lang="en-US" sz="2400" b="1" u="sng" dirty="0" smtClean="0"/>
              <a:t>There are some human factor affecting productivity </a:t>
            </a:r>
          </a:p>
          <a:p>
            <a:endParaRPr lang="en-US" dirty="0"/>
          </a:p>
        </p:txBody>
      </p:sp>
      <p:sp>
        <p:nvSpPr>
          <p:cNvPr id="3" name="TextBox 2"/>
          <p:cNvSpPr txBox="1"/>
          <p:nvPr/>
        </p:nvSpPr>
        <p:spPr>
          <a:xfrm>
            <a:off x="304800" y="2667000"/>
            <a:ext cx="8458200" cy="1846659"/>
          </a:xfrm>
          <a:prstGeom prst="rect">
            <a:avLst/>
          </a:prstGeom>
          <a:noFill/>
        </p:spPr>
        <p:txBody>
          <a:bodyPr wrap="square" rtlCol="0">
            <a:spAutoFit/>
          </a:bodyPr>
          <a:lstStyle/>
          <a:p>
            <a:r>
              <a:rPr lang="en-US" sz="2400" dirty="0" smtClean="0"/>
              <a:t>No final result – interested to find the human factor which effect the production. Conduct another experiment known as </a:t>
            </a:r>
          </a:p>
          <a:p>
            <a:endParaRPr lang="en-US" sz="2400" b="1" u="sng" dirty="0" smtClean="0"/>
          </a:p>
          <a:p>
            <a:r>
              <a:rPr lang="en-US" sz="2400" b="1" u="sng" dirty="0" smtClean="0"/>
              <a:t>Relay assembly test room experiment</a:t>
            </a:r>
          </a:p>
          <a:p>
            <a:endParaRPr lang="en-US" dirty="0"/>
          </a:p>
        </p:txBody>
      </p:sp>
      <p:sp>
        <p:nvSpPr>
          <p:cNvPr id="4" name="TextBox 3"/>
          <p:cNvSpPr txBox="1"/>
          <p:nvPr/>
        </p:nvSpPr>
        <p:spPr>
          <a:xfrm>
            <a:off x="304800" y="4419600"/>
            <a:ext cx="8458200" cy="2862322"/>
          </a:xfrm>
          <a:prstGeom prst="rect">
            <a:avLst/>
          </a:prstGeom>
          <a:noFill/>
        </p:spPr>
        <p:txBody>
          <a:bodyPr wrap="square" rtlCol="0">
            <a:spAutoFit/>
          </a:bodyPr>
          <a:lstStyle/>
          <a:p>
            <a:r>
              <a:rPr lang="en-US" sz="2400" b="1" dirty="0" smtClean="0"/>
              <a:t>TO DETERMINE THE EFFECT  OF CHANGE IN VARIOUS JOB CONDITION IN GROUP PRODUCTIVITY. </a:t>
            </a:r>
          </a:p>
          <a:p>
            <a:r>
              <a:rPr lang="en-US" dirty="0" smtClean="0"/>
              <a:t>(Work-assembly of telephone relay, each relay consisted number of parts assembled into finished product)</a:t>
            </a:r>
          </a:p>
          <a:p>
            <a:r>
              <a:rPr lang="en-US" sz="2400" dirty="0" smtClean="0"/>
              <a:t>Observation  analysis    </a:t>
            </a:r>
            <a:r>
              <a:rPr lang="en-US" sz="2400" dirty="0" smtClean="0">
                <a:sym typeface="Wingdings" pitchFamily="2" charset="2"/>
              </a:rPr>
              <a:t></a:t>
            </a:r>
            <a:r>
              <a:rPr lang="en-US" sz="2400" dirty="0" smtClean="0"/>
              <a:t>Output-speed and continuity </a:t>
            </a:r>
          </a:p>
          <a:p>
            <a:endParaRPr lang="en-US" dirty="0" smtClean="0"/>
          </a:p>
          <a:p>
            <a:endParaRPr lang="en-US" dirty="0" smtClean="0"/>
          </a:p>
          <a:p>
            <a:endParaRPr lang="en-US" dirty="0" smtClean="0"/>
          </a:p>
          <a:p>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457200"/>
            <a:ext cx="8763000" cy="2308324"/>
          </a:xfrm>
          <a:prstGeom prst="rect">
            <a:avLst/>
          </a:prstGeom>
          <a:noFill/>
        </p:spPr>
        <p:txBody>
          <a:bodyPr wrap="square" rtlCol="0">
            <a:spAutoFit/>
          </a:bodyPr>
          <a:lstStyle/>
          <a:p>
            <a:r>
              <a:rPr lang="en-US" sz="2400" dirty="0" smtClean="0"/>
              <a:t>Two girls were chosen </a:t>
            </a:r>
            <a:r>
              <a:rPr lang="en-US" sz="2400" dirty="0" smtClean="0">
                <a:sym typeface="Wingdings"/>
              </a:rPr>
              <a:t></a:t>
            </a:r>
            <a:r>
              <a:rPr lang="en-US" sz="2400" dirty="0" smtClean="0"/>
              <a:t> each girl select four more girls work with her as coworkers </a:t>
            </a:r>
          </a:p>
          <a:p>
            <a:r>
              <a:rPr lang="en-US" sz="2400" dirty="0" smtClean="0"/>
              <a:t>Experiment started- numerous changes in job condition but one at a time </a:t>
            </a:r>
          </a:p>
          <a:p>
            <a:r>
              <a:rPr lang="en-US" sz="2400" dirty="0" smtClean="0"/>
              <a:t>Duration of four to twelve weeks</a:t>
            </a:r>
          </a:p>
          <a:p>
            <a:r>
              <a:rPr lang="en-US" sz="2400" dirty="0" smtClean="0"/>
              <a:t>Observers was there for supervision </a:t>
            </a:r>
            <a:endParaRPr lang="en-US" dirty="0"/>
          </a:p>
        </p:txBody>
      </p:sp>
      <p:sp>
        <p:nvSpPr>
          <p:cNvPr id="3" name="TextBox 2"/>
          <p:cNvSpPr txBox="1"/>
          <p:nvPr/>
        </p:nvSpPr>
        <p:spPr>
          <a:xfrm>
            <a:off x="152400" y="2743200"/>
            <a:ext cx="8991600" cy="1200329"/>
          </a:xfrm>
          <a:prstGeom prst="rect">
            <a:avLst/>
          </a:prstGeom>
          <a:noFill/>
        </p:spPr>
        <p:txBody>
          <a:bodyPr wrap="square" rtlCol="0">
            <a:spAutoFit/>
          </a:bodyPr>
          <a:lstStyle/>
          <a:p>
            <a:r>
              <a:rPr lang="en-US" sz="2400" b="1" dirty="0" smtClean="0"/>
              <a:t>For each change girls were informed and asked for their suggestion as well as their concern and their views , also welcome their decision </a:t>
            </a:r>
            <a:endParaRPr lang="en-US" sz="2400" b="1"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579358"/>
            <a:ext cx="8839200" cy="6278642"/>
          </a:xfrm>
          <a:prstGeom prst="rect">
            <a:avLst/>
          </a:prstGeom>
          <a:noFill/>
        </p:spPr>
        <p:txBody>
          <a:bodyPr wrap="square" rtlCol="0">
            <a:spAutoFit/>
          </a:bodyPr>
          <a:lstStyle/>
          <a:p>
            <a:r>
              <a:rPr lang="en-US" sz="2400" b="1" dirty="0" smtClean="0"/>
              <a:t>First change </a:t>
            </a:r>
            <a:r>
              <a:rPr lang="en-US" sz="2400" dirty="0" smtClean="0">
                <a:sym typeface="Wingdings"/>
              </a:rPr>
              <a:t></a:t>
            </a:r>
            <a:r>
              <a:rPr lang="en-US" sz="2400" dirty="0" smtClean="0"/>
              <a:t> system was changed each girls pay on their individual performance and extra pay based on other four – </a:t>
            </a:r>
            <a:r>
              <a:rPr lang="en-US" sz="2400" b="1" dirty="0" smtClean="0"/>
              <a:t>production increase</a:t>
            </a:r>
          </a:p>
          <a:p>
            <a:r>
              <a:rPr lang="en-US" sz="2400" dirty="0" smtClean="0"/>
              <a:t> </a:t>
            </a:r>
            <a:r>
              <a:rPr lang="en-US" sz="2400" b="1" dirty="0" smtClean="0"/>
              <a:t>Second Change</a:t>
            </a:r>
            <a:r>
              <a:rPr lang="en-US" sz="2400" dirty="0" smtClean="0">
                <a:sym typeface="Wingdings" pitchFamily="2" charset="2"/>
              </a:rPr>
              <a:t></a:t>
            </a:r>
            <a:r>
              <a:rPr lang="en-US" sz="2400" dirty="0" smtClean="0"/>
              <a:t> Time five min rest – changed to 10min in morning and 10 min in evening </a:t>
            </a:r>
            <a:r>
              <a:rPr lang="en-US" sz="2400" dirty="0" smtClean="0">
                <a:sym typeface="Wingdings"/>
              </a:rPr>
              <a:t></a:t>
            </a:r>
            <a:r>
              <a:rPr lang="en-US" sz="2400" dirty="0" smtClean="0"/>
              <a:t> </a:t>
            </a:r>
            <a:r>
              <a:rPr lang="en-US" sz="2400" b="1" dirty="0" smtClean="0"/>
              <a:t>productivity increase</a:t>
            </a:r>
          </a:p>
          <a:p>
            <a:r>
              <a:rPr lang="en-US" sz="2400" b="1" dirty="0" smtClean="0"/>
              <a:t>Third change </a:t>
            </a:r>
            <a:r>
              <a:rPr lang="en-US" sz="2400" dirty="0" smtClean="0">
                <a:sym typeface="Wingdings" pitchFamily="2" charset="2"/>
              </a:rPr>
              <a:t></a:t>
            </a:r>
            <a:r>
              <a:rPr lang="en-US" sz="2400" dirty="0" smtClean="0"/>
              <a:t>Rest period was reduced to five min but frequency increased</a:t>
            </a:r>
            <a:r>
              <a:rPr lang="en-US" sz="2400" dirty="0" smtClean="0">
                <a:sym typeface="Wingdings"/>
              </a:rPr>
              <a:t></a:t>
            </a:r>
            <a:r>
              <a:rPr lang="en-US" sz="2400" dirty="0" smtClean="0"/>
              <a:t> </a:t>
            </a:r>
            <a:r>
              <a:rPr lang="en-US" sz="2400" b="1" dirty="0" smtClean="0"/>
              <a:t>productivity decrease </a:t>
            </a:r>
            <a:r>
              <a:rPr lang="en-US" sz="2400" dirty="0" smtClean="0"/>
              <a:t>( with complain of frequent break time effect their harmony of work)</a:t>
            </a:r>
          </a:p>
          <a:p>
            <a:r>
              <a:rPr lang="en-US" sz="2400" b="1" dirty="0" smtClean="0"/>
              <a:t>Fourth change </a:t>
            </a:r>
            <a:r>
              <a:rPr lang="en-US" sz="2400" dirty="0" smtClean="0">
                <a:sym typeface="Wingdings" pitchFamily="2" charset="2"/>
              </a:rPr>
              <a:t></a:t>
            </a:r>
            <a:r>
              <a:rPr lang="en-US" sz="2400" dirty="0" smtClean="0"/>
              <a:t>Now 10 min break in morning provide with coffee soup and sandwich </a:t>
            </a:r>
          </a:p>
          <a:p>
            <a:r>
              <a:rPr lang="en-US" sz="2400" dirty="0" smtClean="0"/>
              <a:t>And 10 min break in evening provide snack</a:t>
            </a:r>
            <a:r>
              <a:rPr lang="en-US" sz="2400" dirty="0" smtClean="0">
                <a:sym typeface="Wingdings"/>
              </a:rPr>
              <a:t></a:t>
            </a:r>
            <a:r>
              <a:rPr lang="en-US" sz="2400" dirty="0" smtClean="0"/>
              <a:t> </a:t>
            </a:r>
            <a:r>
              <a:rPr lang="en-US" sz="2400" b="1" dirty="0" smtClean="0"/>
              <a:t>productivity increase</a:t>
            </a:r>
          </a:p>
          <a:p>
            <a:r>
              <a:rPr lang="en-US" sz="2400" b="1" dirty="0" smtClean="0"/>
              <a:t>Several change </a:t>
            </a:r>
            <a:r>
              <a:rPr lang="en-US" sz="2400" dirty="0" smtClean="0">
                <a:sym typeface="Wingdings" pitchFamily="2" charset="2"/>
              </a:rPr>
              <a:t></a:t>
            </a:r>
            <a:r>
              <a:rPr lang="en-US" sz="2400" dirty="0" smtClean="0"/>
              <a:t>Changes in working hours and working days</a:t>
            </a:r>
            <a:r>
              <a:rPr lang="en-US" sz="2400" dirty="0" smtClean="0">
                <a:sym typeface="Wingdings"/>
              </a:rPr>
              <a:t></a:t>
            </a:r>
            <a:r>
              <a:rPr lang="en-US" sz="2400" dirty="0" smtClean="0"/>
              <a:t> </a:t>
            </a:r>
            <a:r>
              <a:rPr lang="en-US" sz="2400" b="1" dirty="0" smtClean="0"/>
              <a:t>increase in productivity </a:t>
            </a:r>
          </a:p>
          <a:p>
            <a:r>
              <a:rPr lang="en-US" sz="2400" dirty="0" smtClean="0"/>
              <a:t>Now all the changes are removed</a:t>
            </a:r>
            <a:r>
              <a:rPr lang="en-US" sz="2400" dirty="0" smtClean="0">
                <a:sym typeface="Wingdings"/>
              </a:rPr>
              <a:t></a:t>
            </a:r>
            <a:r>
              <a:rPr lang="en-US" sz="2400" dirty="0" smtClean="0"/>
              <a:t> </a:t>
            </a:r>
            <a:r>
              <a:rPr lang="en-US" sz="2400" b="1" dirty="0" smtClean="0"/>
              <a:t>surprisingly increase the productivity </a:t>
            </a:r>
          </a:p>
          <a:p>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914400"/>
            <a:ext cx="8686800" cy="3231654"/>
          </a:xfrm>
          <a:prstGeom prst="rect">
            <a:avLst/>
          </a:prstGeom>
          <a:noFill/>
        </p:spPr>
        <p:txBody>
          <a:bodyPr wrap="square" rtlCol="0">
            <a:spAutoFit/>
          </a:bodyPr>
          <a:lstStyle/>
          <a:p>
            <a:r>
              <a:rPr lang="en-US" b="1" dirty="0" smtClean="0"/>
              <a:t>Why?</a:t>
            </a:r>
            <a:r>
              <a:rPr lang="en-US" dirty="0" smtClean="0"/>
              <a:t> </a:t>
            </a:r>
          </a:p>
          <a:p>
            <a:r>
              <a:rPr lang="en-US" sz="2400" b="1" dirty="0" smtClean="0"/>
              <a:t>Reasons </a:t>
            </a:r>
          </a:p>
          <a:p>
            <a:pPr lvl="0">
              <a:buFont typeface="Wingdings" pitchFamily="2" charset="2"/>
              <a:buChar char="Ø"/>
            </a:pPr>
            <a:r>
              <a:rPr lang="en-US" sz="2400" b="1" dirty="0" smtClean="0"/>
              <a:t>Change in in behavior towards works and group works</a:t>
            </a:r>
          </a:p>
          <a:p>
            <a:pPr lvl="0">
              <a:buFont typeface="Wingdings" pitchFamily="2" charset="2"/>
              <a:buChar char="Ø"/>
            </a:pPr>
            <a:r>
              <a:rPr lang="en-US" sz="2400" b="1" dirty="0" smtClean="0"/>
              <a:t>Change in girls attitude towards works.</a:t>
            </a:r>
          </a:p>
          <a:p>
            <a:pPr lvl="0">
              <a:buFont typeface="Wingdings" pitchFamily="2" charset="2"/>
              <a:buChar char="Ø"/>
            </a:pPr>
            <a:r>
              <a:rPr lang="en-US" sz="2400" b="1" dirty="0" smtClean="0"/>
              <a:t>Develop confidences, stability and belongingness.</a:t>
            </a:r>
          </a:p>
          <a:p>
            <a:pPr lvl="0">
              <a:buFont typeface="Wingdings" pitchFamily="2" charset="2"/>
              <a:buChar char="Ø"/>
            </a:pPr>
            <a:r>
              <a:rPr lang="en-US" sz="2400" b="1" dirty="0" smtClean="0"/>
              <a:t> Freedom to do the work, friendly relation with supervisor.</a:t>
            </a:r>
          </a:p>
          <a:p>
            <a:pPr lvl="0">
              <a:buFont typeface="Wingdings" pitchFamily="2" charset="2"/>
              <a:buChar char="Ø"/>
            </a:pPr>
            <a:r>
              <a:rPr lang="en-US" sz="2400" b="1" dirty="0" smtClean="0"/>
              <a:t> Develop self discipline and   responsibility. </a:t>
            </a:r>
          </a:p>
          <a:p>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3400" y="762000"/>
            <a:ext cx="8458200" cy="4678204"/>
          </a:xfrm>
          <a:prstGeom prst="rect">
            <a:avLst/>
          </a:prstGeom>
          <a:noFill/>
        </p:spPr>
        <p:txBody>
          <a:bodyPr wrap="square" rtlCol="0">
            <a:spAutoFit/>
          </a:bodyPr>
          <a:lstStyle/>
          <a:p>
            <a:r>
              <a:rPr lang="en-US" sz="2800" b="1" u="sng" dirty="0" smtClean="0"/>
              <a:t>Mass interviewing </a:t>
            </a:r>
            <a:r>
              <a:rPr lang="en-US" sz="2800" b="1" u="sng" dirty="0" err="1" smtClean="0"/>
              <a:t>programme</a:t>
            </a:r>
            <a:endParaRPr lang="en-US" sz="2800" b="1" u="sng" dirty="0" smtClean="0"/>
          </a:p>
          <a:p>
            <a:endParaRPr lang="en-US" b="1" dirty="0" smtClean="0"/>
          </a:p>
          <a:p>
            <a:r>
              <a:rPr lang="en-US" sz="2400" b="1" dirty="0" smtClean="0"/>
              <a:t>To determine employees attitude towards company, supervision, promotion and wages</a:t>
            </a:r>
          </a:p>
          <a:p>
            <a:endParaRPr lang="en-US" b="1" dirty="0" smtClean="0"/>
          </a:p>
          <a:p>
            <a:r>
              <a:rPr lang="en-US" sz="2400" b="1" dirty="0" smtClean="0"/>
              <a:t>About 21thosand interviews were conducted</a:t>
            </a:r>
            <a:endParaRPr lang="en-US" sz="2400" dirty="0" smtClean="0"/>
          </a:p>
          <a:p>
            <a:endParaRPr lang="en-US" sz="2400" dirty="0" smtClean="0"/>
          </a:p>
          <a:p>
            <a:r>
              <a:rPr lang="en-US" sz="2400" b="1" dirty="0" smtClean="0"/>
              <a:t> Initially by direct questioning like yes or No</a:t>
            </a:r>
          </a:p>
          <a:p>
            <a:endParaRPr lang="en-US" sz="2400" b="1" dirty="0" smtClean="0"/>
          </a:p>
          <a:p>
            <a:r>
              <a:rPr lang="en-US" sz="2400" b="1" dirty="0" smtClean="0"/>
              <a:t>Then Method was changed to non directive question in which </a:t>
            </a:r>
            <a:r>
              <a:rPr lang="en-US" sz="2400" b="1" u="sng" dirty="0" smtClean="0"/>
              <a:t>interviewers</a:t>
            </a:r>
            <a:r>
              <a:rPr lang="en-US" sz="2400" b="1" dirty="0" smtClean="0"/>
              <a:t> was asked to listen, instead of talking, arguing or advising</a:t>
            </a:r>
            <a:endParaRPr lang="en-US" sz="2400" dirty="0" smtClean="0"/>
          </a:p>
          <a:p>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838200"/>
            <a:ext cx="8610600" cy="5539978"/>
          </a:xfrm>
          <a:prstGeom prst="rect">
            <a:avLst/>
          </a:prstGeom>
          <a:noFill/>
        </p:spPr>
        <p:txBody>
          <a:bodyPr wrap="square" rtlCol="0">
            <a:spAutoFit/>
          </a:bodyPr>
          <a:lstStyle/>
          <a:p>
            <a:pPr lvl="0"/>
            <a:r>
              <a:rPr lang="en-US" sz="2400" b="1" dirty="0" smtClean="0"/>
              <a:t>It was discovered that workers behavior was being influenced by group behaviors</a:t>
            </a:r>
          </a:p>
          <a:p>
            <a:pPr lvl="0"/>
            <a:endParaRPr lang="en-US" sz="2400" b="1" dirty="0" smtClean="0"/>
          </a:p>
          <a:p>
            <a:r>
              <a:rPr lang="en-US" sz="2400" b="1" dirty="0" smtClean="0"/>
              <a:t>Conclusion was not satisfactory therefore conduct another series of experiment.</a:t>
            </a:r>
            <a:endParaRPr lang="en-US" sz="2400" dirty="0" smtClean="0"/>
          </a:p>
          <a:p>
            <a:pPr lvl="0"/>
            <a:endParaRPr lang="en-US" sz="2400" dirty="0" smtClean="0"/>
          </a:p>
          <a:p>
            <a:r>
              <a:rPr lang="en-US" sz="2400" b="1" dirty="0" smtClean="0"/>
              <a:t>Known as </a:t>
            </a:r>
            <a:r>
              <a:rPr lang="en-US" sz="2400" dirty="0" smtClean="0"/>
              <a:t>:</a:t>
            </a:r>
            <a:r>
              <a:rPr lang="en-US" sz="2400" dirty="0" smtClean="0">
                <a:sym typeface="Wingdings" pitchFamily="2" charset="2"/>
              </a:rPr>
              <a:t></a:t>
            </a:r>
            <a:r>
              <a:rPr lang="en-US" sz="2400" b="1" dirty="0" smtClean="0"/>
              <a:t> </a:t>
            </a:r>
            <a:r>
              <a:rPr lang="en-US" sz="2400" b="1" u="sng" dirty="0" smtClean="0"/>
              <a:t>Bank wiring observation room experiment</a:t>
            </a:r>
          </a:p>
          <a:p>
            <a:endParaRPr lang="en-US" sz="2400" b="1" dirty="0" smtClean="0"/>
          </a:p>
          <a:p>
            <a:r>
              <a:rPr lang="en-US" sz="2400" b="1" dirty="0" smtClean="0"/>
              <a:t>To analyze the functioning of small group and its impact on individual behavior</a:t>
            </a:r>
          </a:p>
          <a:p>
            <a:endParaRPr lang="en-US" sz="2400" b="1" dirty="0" smtClean="0"/>
          </a:p>
          <a:p>
            <a:r>
              <a:rPr lang="en-US" sz="2400" b="1" dirty="0" smtClean="0"/>
              <a:t>Hypothesis – in order to earn more , workers would produce more and to take the advantage of group bonus they would help each other to produce more</a:t>
            </a:r>
            <a:endParaRPr lang="en-US" sz="2400" dirty="0" smtClean="0"/>
          </a:p>
          <a:p>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838200"/>
            <a:ext cx="8534400" cy="8032968"/>
          </a:xfrm>
          <a:prstGeom prst="rect">
            <a:avLst/>
          </a:prstGeom>
          <a:noFill/>
        </p:spPr>
        <p:txBody>
          <a:bodyPr wrap="square" rtlCol="0">
            <a:spAutoFit/>
          </a:bodyPr>
          <a:lstStyle/>
          <a:p>
            <a:r>
              <a:rPr lang="en-US" sz="2400" b="1" dirty="0" smtClean="0"/>
              <a:t>A group of 14 male workers was employed</a:t>
            </a:r>
          </a:p>
          <a:p>
            <a:endParaRPr lang="en-US" sz="2400" b="1" dirty="0" smtClean="0"/>
          </a:p>
          <a:p>
            <a:pPr lvl="0"/>
            <a:r>
              <a:rPr lang="en-US" sz="2400" b="1" dirty="0" smtClean="0"/>
              <a:t>Nine wiremen three solder men and two inspectors</a:t>
            </a:r>
          </a:p>
          <a:p>
            <a:pPr lvl="0"/>
            <a:endParaRPr lang="en-US" sz="2400" b="1" dirty="0" smtClean="0"/>
          </a:p>
          <a:p>
            <a:r>
              <a:rPr lang="en-US" sz="2400" b="1" dirty="0" smtClean="0"/>
              <a:t>Work is to attaching wire to switches for certain equipment  used in telephone exchange</a:t>
            </a:r>
          </a:p>
          <a:p>
            <a:endParaRPr lang="en-US" sz="2400" b="1" dirty="0" smtClean="0"/>
          </a:p>
          <a:p>
            <a:pPr lvl="0"/>
            <a:r>
              <a:rPr lang="en-US" sz="2400" b="1" dirty="0" smtClean="0"/>
              <a:t>Compensation—hourly wage, rate of wage based on average output of each worker</a:t>
            </a:r>
          </a:p>
          <a:p>
            <a:pPr lvl="0"/>
            <a:endParaRPr lang="en-US" sz="2400" b="1" dirty="0" smtClean="0"/>
          </a:p>
          <a:p>
            <a:r>
              <a:rPr lang="en-US" sz="2400" b="1" dirty="0" smtClean="0"/>
              <a:t>Bonus on the basis of average group output</a:t>
            </a:r>
            <a:endParaRPr lang="en-US" sz="2400" dirty="0" smtClean="0"/>
          </a:p>
          <a:p>
            <a:pPr lvl="0"/>
            <a:endParaRPr lang="en-US" sz="2400" dirty="0" smtClean="0"/>
          </a:p>
          <a:p>
            <a:r>
              <a:rPr lang="en-US" sz="2400" b="1" dirty="0" smtClean="0"/>
              <a:t>Hypothesis did not hold valid </a:t>
            </a:r>
          </a:p>
          <a:p>
            <a:endParaRPr lang="en-US" sz="2400" b="1" dirty="0" smtClean="0"/>
          </a:p>
          <a:p>
            <a:pPr lvl="0"/>
            <a:r>
              <a:rPr lang="en-US" sz="2400" b="1" dirty="0" smtClean="0"/>
              <a:t>Workers decided target for themselves which was lower than the company target</a:t>
            </a:r>
            <a:endParaRPr lang="en-US" sz="2400" dirty="0" smtClean="0"/>
          </a:p>
          <a:p>
            <a:endParaRPr lang="en-US" sz="2400" dirty="0" smtClean="0"/>
          </a:p>
          <a:p>
            <a:pPr lvl="0"/>
            <a:endParaRPr lang="en-US" dirty="0" smtClean="0"/>
          </a:p>
          <a:p>
            <a:pPr lvl="0"/>
            <a:endParaRPr lang="en-US" dirty="0" smtClean="0"/>
          </a:p>
          <a:p>
            <a:endParaRPr lang="en-US" dirty="0" smtClean="0"/>
          </a:p>
          <a:p>
            <a:pPr lvl="0"/>
            <a:endParaRPr lang="en-US" dirty="0" smtClean="0"/>
          </a:p>
          <a:p>
            <a:r>
              <a:rPr lang="en-US" b="1" dirty="0" smtClean="0"/>
              <a:t> </a:t>
            </a:r>
            <a:endParaRPr lang="en-US" dirty="0" smtClean="0"/>
          </a:p>
          <a:p>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838200"/>
            <a:ext cx="8686800" cy="3416320"/>
          </a:xfrm>
          <a:prstGeom prst="rect">
            <a:avLst/>
          </a:prstGeom>
          <a:noFill/>
        </p:spPr>
        <p:txBody>
          <a:bodyPr wrap="square" rtlCol="0">
            <a:spAutoFit/>
          </a:bodyPr>
          <a:lstStyle/>
          <a:p>
            <a:pPr lvl="0"/>
            <a:r>
              <a:rPr lang="en-US" sz="2400" b="1" dirty="0" smtClean="0"/>
              <a:t>Workers gave the following reasons for the same</a:t>
            </a:r>
            <a:endParaRPr lang="en-US" sz="2400" dirty="0" smtClean="0"/>
          </a:p>
          <a:p>
            <a:pPr lvl="0">
              <a:buFont typeface="Wingdings" pitchFamily="2" charset="2"/>
              <a:buChar char="Ø"/>
            </a:pPr>
            <a:r>
              <a:rPr lang="en-US" sz="2400" b="1" dirty="0" smtClean="0"/>
              <a:t>Fear of Unemployment</a:t>
            </a:r>
            <a:endParaRPr lang="en-US" sz="2400" dirty="0" smtClean="0"/>
          </a:p>
          <a:p>
            <a:pPr lvl="0">
              <a:buFont typeface="Wingdings" pitchFamily="2" charset="2"/>
              <a:buChar char="Ø"/>
            </a:pPr>
            <a:r>
              <a:rPr lang="en-US" sz="2400" b="1" dirty="0" smtClean="0"/>
              <a:t>Gear of raising the standards</a:t>
            </a:r>
            <a:endParaRPr lang="en-US" sz="2400" dirty="0" smtClean="0"/>
          </a:p>
          <a:p>
            <a:pPr lvl="0">
              <a:buFont typeface="Wingdings" pitchFamily="2" charset="2"/>
              <a:buChar char="Ø"/>
            </a:pPr>
            <a:r>
              <a:rPr lang="en-US" sz="2400" b="1" dirty="0" smtClean="0"/>
              <a:t>Protection of slower workers</a:t>
            </a:r>
            <a:endParaRPr lang="en-US" sz="2400" dirty="0" smtClean="0"/>
          </a:p>
          <a:p>
            <a:pPr lvl="0">
              <a:buFont typeface="Wingdings" pitchFamily="2" charset="2"/>
              <a:buChar char="Ø"/>
            </a:pPr>
            <a:r>
              <a:rPr lang="en-US" sz="2400" b="1" dirty="0" smtClean="0"/>
              <a:t>Satisfaction on the part of management</a:t>
            </a:r>
          </a:p>
          <a:p>
            <a:pPr lvl="0"/>
            <a:endParaRPr lang="en-US" sz="2400" b="1" dirty="0" smtClean="0"/>
          </a:p>
          <a:p>
            <a:r>
              <a:rPr lang="en-US" sz="2400" b="1" dirty="0" smtClean="0"/>
              <a:t>Conclusion of Hawthorn studies for</a:t>
            </a:r>
          </a:p>
          <a:p>
            <a:endParaRPr lang="en-US" sz="2400" b="1" dirty="0" smtClean="0"/>
          </a:p>
          <a:p>
            <a:pPr algn="ctr"/>
            <a:r>
              <a:rPr lang="en-US" sz="2400" b="1" dirty="0" smtClean="0"/>
              <a:t> HUMAN    RELATION    THEORY</a:t>
            </a:r>
            <a:endParaRPr lang="en-US" dirty="0"/>
          </a:p>
        </p:txBody>
      </p:sp>
      <p:sp>
        <p:nvSpPr>
          <p:cNvPr id="3" name="TextBox 2"/>
          <p:cNvSpPr txBox="1"/>
          <p:nvPr/>
        </p:nvSpPr>
        <p:spPr>
          <a:xfrm>
            <a:off x="457200" y="4343400"/>
            <a:ext cx="7924800" cy="1938992"/>
          </a:xfrm>
          <a:prstGeom prst="rect">
            <a:avLst/>
          </a:prstGeom>
          <a:noFill/>
        </p:spPr>
        <p:txBody>
          <a:bodyPr wrap="square" numCol="2" rtlCol="0">
            <a:spAutoFit/>
          </a:bodyPr>
          <a:lstStyle/>
          <a:p>
            <a:pPr>
              <a:buFont typeface="Wingdings" pitchFamily="2" charset="2"/>
              <a:buChar char="Ø"/>
            </a:pPr>
            <a:r>
              <a:rPr lang="en-US" sz="2400" b="1" dirty="0" smtClean="0"/>
              <a:t>Social Unit</a:t>
            </a:r>
          </a:p>
          <a:p>
            <a:pPr>
              <a:buFont typeface="Wingdings" pitchFamily="2" charset="2"/>
              <a:buChar char="Ø"/>
            </a:pPr>
            <a:r>
              <a:rPr lang="en-US" sz="2400" b="1" dirty="0" smtClean="0"/>
              <a:t>Group influence</a:t>
            </a:r>
          </a:p>
          <a:p>
            <a:pPr>
              <a:buFont typeface="Wingdings" pitchFamily="2" charset="2"/>
              <a:buChar char="Ø"/>
            </a:pPr>
            <a:r>
              <a:rPr lang="en-US" sz="2400" b="1" dirty="0" smtClean="0"/>
              <a:t>Group behaviors</a:t>
            </a:r>
          </a:p>
          <a:p>
            <a:pPr>
              <a:buFont typeface="Wingdings" pitchFamily="2" charset="2"/>
              <a:buChar char="Ø"/>
            </a:pPr>
            <a:r>
              <a:rPr lang="en-US" sz="2400" b="1" dirty="0" smtClean="0"/>
              <a:t>Motivation</a:t>
            </a:r>
          </a:p>
          <a:p>
            <a:pPr>
              <a:buFont typeface="Wingdings" pitchFamily="2" charset="2"/>
              <a:buChar char="Ø"/>
            </a:pPr>
            <a:r>
              <a:rPr lang="en-US" sz="2400" b="1" dirty="0" smtClean="0"/>
              <a:t>Supervision</a:t>
            </a:r>
          </a:p>
          <a:p>
            <a:pPr>
              <a:buFont typeface="Wingdings" pitchFamily="2" charset="2"/>
              <a:buChar char="Ø"/>
            </a:pPr>
            <a:r>
              <a:rPr lang="en-US" sz="2400" b="1" dirty="0" smtClean="0"/>
              <a:t>Working conditions</a:t>
            </a:r>
          </a:p>
          <a:p>
            <a:pPr>
              <a:buFont typeface="Wingdings" pitchFamily="2" charset="2"/>
              <a:buChar char="Ø"/>
            </a:pPr>
            <a:r>
              <a:rPr lang="en-US" sz="2400" b="1" dirty="0" smtClean="0"/>
              <a:t>Employee morale(</a:t>
            </a:r>
            <a:r>
              <a:rPr lang="ne-NP" sz="2400" dirty="0" smtClean="0"/>
              <a:t>मनोबल</a:t>
            </a:r>
            <a:r>
              <a:rPr lang="en-US" sz="2400" smtClean="0"/>
              <a:t>)</a:t>
            </a:r>
            <a:endParaRPr lang="en-US" sz="2400" b="1" dirty="0" smtClean="0"/>
          </a:p>
          <a:p>
            <a:pPr>
              <a:buFont typeface="Wingdings" pitchFamily="2" charset="2"/>
              <a:buChar char="Ø"/>
            </a:pPr>
            <a:r>
              <a:rPr lang="en-US" sz="2400" b="1" dirty="0" smtClean="0"/>
              <a:t>Communication </a:t>
            </a:r>
          </a:p>
          <a:p>
            <a:pPr>
              <a:buFont typeface="Wingdings" pitchFamily="2" charset="2"/>
              <a:buChar char="Ø"/>
            </a:pPr>
            <a:r>
              <a:rPr lang="en-US" sz="2400" b="1" dirty="0" smtClean="0"/>
              <a:t>Balanced approach</a:t>
            </a:r>
            <a:endParaRPr lang="en-US" sz="2400" b="1"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838200"/>
            <a:ext cx="8686800" cy="5139869"/>
          </a:xfrm>
          <a:prstGeom prst="rect">
            <a:avLst/>
          </a:prstGeom>
          <a:noFill/>
        </p:spPr>
        <p:txBody>
          <a:bodyPr wrap="square" rtlCol="0">
            <a:spAutoFit/>
          </a:bodyPr>
          <a:lstStyle/>
          <a:p>
            <a:r>
              <a:rPr lang="en-US" sz="2800" b="1" dirty="0" smtClean="0"/>
              <a:t>BEHAVIORAL SCIENCE PERSPECTIVES</a:t>
            </a:r>
          </a:p>
          <a:p>
            <a:endParaRPr lang="en-US" dirty="0" smtClean="0"/>
          </a:p>
          <a:p>
            <a:r>
              <a:rPr lang="en-US" sz="2400" b="1" dirty="0" smtClean="0"/>
              <a:t>Theory of participator management</a:t>
            </a:r>
            <a:r>
              <a:rPr lang="en-US" sz="2400" dirty="0" smtClean="0"/>
              <a:t>:- </a:t>
            </a:r>
            <a:r>
              <a:rPr lang="en-US" sz="2400" b="1" dirty="0" smtClean="0"/>
              <a:t>Mary Parker </a:t>
            </a:r>
            <a:r>
              <a:rPr lang="en-US" sz="2400" b="1" dirty="0" err="1" smtClean="0"/>
              <a:t>Follet</a:t>
            </a:r>
            <a:endParaRPr lang="en-US" sz="2400" b="1" dirty="0" smtClean="0"/>
          </a:p>
          <a:p>
            <a:pPr>
              <a:buFont typeface="Wingdings" pitchFamily="2" charset="2"/>
              <a:buChar char="Ø"/>
            </a:pPr>
            <a:r>
              <a:rPr lang="en-US" sz="2400" dirty="0" smtClean="0"/>
              <a:t> In organization human is an important factor for the productivity.</a:t>
            </a:r>
          </a:p>
          <a:p>
            <a:pPr>
              <a:buFont typeface="Wingdings" pitchFamily="2" charset="2"/>
              <a:buChar char="Ø"/>
            </a:pPr>
            <a:r>
              <a:rPr lang="en-US" sz="2400" dirty="0" smtClean="0"/>
              <a:t>Management should give more preferences to vertical as well ad horizontal communication system.</a:t>
            </a:r>
          </a:p>
          <a:p>
            <a:pPr>
              <a:buFont typeface="Wingdings" pitchFamily="2" charset="2"/>
              <a:buChar char="Ø"/>
            </a:pPr>
            <a:r>
              <a:rPr lang="en-US" sz="2400" dirty="0" smtClean="0"/>
              <a:t>To increase the efficiency and productivity, employees should be involved in decision making process.</a:t>
            </a:r>
          </a:p>
          <a:p>
            <a:pPr>
              <a:buFont typeface="Wingdings" pitchFamily="2" charset="2"/>
              <a:buChar char="Ø"/>
            </a:pPr>
            <a:r>
              <a:rPr lang="en-US" sz="2400" dirty="0" smtClean="0"/>
              <a:t>Employees of different level should be encouraged for providing suggestion related to plan and operating strategies </a:t>
            </a:r>
          </a:p>
          <a:p>
            <a:pPr>
              <a:buFont typeface="Wingdings" pitchFamily="2" charset="2"/>
              <a:buChar char="Ø"/>
            </a:pPr>
            <a:r>
              <a:rPr lang="en-US" sz="2400" dirty="0" smtClean="0"/>
              <a:t>Decision should  be taken on the basis of employees suggestion.</a:t>
            </a:r>
          </a:p>
          <a:p>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304800"/>
            <a:ext cx="8991600" cy="9971961"/>
          </a:xfrm>
          <a:prstGeom prst="rect">
            <a:avLst/>
          </a:prstGeom>
          <a:noFill/>
        </p:spPr>
        <p:txBody>
          <a:bodyPr wrap="square" rtlCol="0">
            <a:spAutoFit/>
          </a:bodyPr>
          <a:lstStyle/>
          <a:p>
            <a:r>
              <a:rPr lang="en-US" sz="2400" b="1" dirty="0" smtClean="0"/>
              <a:t>Theory of Human needs</a:t>
            </a:r>
            <a:r>
              <a:rPr lang="en-US" sz="2400" dirty="0" smtClean="0"/>
              <a:t>:-   </a:t>
            </a:r>
            <a:r>
              <a:rPr lang="en-US" sz="2400" b="1" dirty="0" smtClean="0"/>
              <a:t>Abraham Maslow</a:t>
            </a:r>
          </a:p>
          <a:p>
            <a:endParaRPr lang="en-US" sz="2400" b="1" dirty="0" smtClean="0"/>
          </a:p>
          <a:p>
            <a:r>
              <a:rPr lang="en-US" sz="2400" dirty="0" smtClean="0"/>
              <a:t>They classify the  need into five levels as </a:t>
            </a:r>
            <a:r>
              <a:rPr lang="en-US" sz="2400" b="1" dirty="0" smtClean="0"/>
              <a:t>physiological needs</a:t>
            </a:r>
            <a:r>
              <a:rPr lang="en-US" sz="2400" dirty="0" smtClean="0"/>
              <a:t>, </a:t>
            </a:r>
            <a:r>
              <a:rPr lang="en-US" sz="2400" b="1" dirty="0" smtClean="0"/>
              <a:t>safety need</a:t>
            </a:r>
            <a:r>
              <a:rPr lang="en-US" sz="2400" dirty="0" smtClean="0"/>
              <a:t>, </a:t>
            </a:r>
            <a:r>
              <a:rPr lang="en-US" sz="2400" b="1" dirty="0" smtClean="0"/>
              <a:t>social affiliation(</a:t>
            </a:r>
            <a:r>
              <a:rPr lang="ne-NP" sz="2400" dirty="0" smtClean="0"/>
              <a:t>आबद्धता</a:t>
            </a:r>
            <a:r>
              <a:rPr lang="en-US" sz="2400" dirty="0" smtClean="0"/>
              <a:t>) needs, </a:t>
            </a:r>
            <a:r>
              <a:rPr lang="en-US" sz="2400" b="1" dirty="0" smtClean="0"/>
              <a:t>self esteem </a:t>
            </a:r>
            <a:r>
              <a:rPr lang="en-US" sz="2400" dirty="0" smtClean="0"/>
              <a:t>(</a:t>
            </a:r>
            <a:r>
              <a:rPr lang="ne-NP" sz="2400" dirty="0" smtClean="0"/>
              <a:t>आत्मसम्मान</a:t>
            </a:r>
            <a:r>
              <a:rPr lang="en-US" sz="2400" dirty="0" smtClean="0"/>
              <a:t>) needs and self actualization needs.(fulfilling from lower to higher)</a:t>
            </a:r>
          </a:p>
          <a:p>
            <a:endParaRPr lang="en-US" sz="2400" dirty="0" smtClean="0"/>
          </a:p>
          <a:p>
            <a:pPr lvl="0"/>
            <a:r>
              <a:rPr lang="en-US" sz="2400" b="1" u="sng" dirty="0" smtClean="0"/>
              <a:t>Physiological Needs</a:t>
            </a:r>
            <a:r>
              <a:rPr lang="en-US" sz="2400" dirty="0" smtClean="0"/>
              <a:t>:- fundamental needs like food , shelter, clothing, rest. Etc</a:t>
            </a:r>
          </a:p>
          <a:p>
            <a:endParaRPr lang="en-US" sz="2400" dirty="0" smtClean="0"/>
          </a:p>
          <a:p>
            <a:pPr lvl="0"/>
            <a:r>
              <a:rPr lang="en-US" sz="2400" b="1" u="sng" dirty="0" smtClean="0"/>
              <a:t>Safety need</a:t>
            </a:r>
            <a:r>
              <a:rPr lang="en-US" sz="2400" dirty="0" smtClean="0"/>
              <a:t>:- of job, order, future, financial, emotional, health, etc.</a:t>
            </a:r>
          </a:p>
          <a:p>
            <a:endParaRPr lang="en-US" sz="2400" dirty="0" smtClean="0"/>
          </a:p>
          <a:p>
            <a:pPr lvl="0"/>
            <a:r>
              <a:rPr lang="en-US" sz="2400" b="1" u="sng" dirty="0" smtClean="0"/>
              <a:t>Social affiliation or Love and belonging need</a:t>
            </a:r>
            <a:r>
              <a:rPr lang="en-US" sz="2400" dirty="0" smtClean="0"/>
              <a:t>:- feeling of  relationship and connected, as a part of organization( a type of psychological need)</a:t>
            </a:r>
          </a:p>
          <a:p>
            <a:r>
              <a:rPr lang="en-US" sz="2400" dirty="0" smtClean="0"/>
              <a:t> </a:t>
            </a:r>
          </a:p>
          <a:p>
            <a:pPr lvl="0"/>
            <a:r>
              <a:rPr lang="en-US" sz="2400" b="1" u="sng" dirty="0" smtClean="0"/>
              <a:t>Self esteem need</a:t>
            </a:r>
            <a:r>
              <a:rPr lang="en-US" sz="2400" dirty="0" smtClean="0"/>
              <a:t>:- self confidence  and achievement, freedom</a:t>
            </a:r>
          </a:p>
          <a:p>
            <a:pPr lvl="0"/>
            <a:endParaRPr lang="en-US" sz="2400" dirty="0" smtClean="0"/>
          </a:p>
          <a:p>
            <a:endParaRPr lang="en-US" sz="2400"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2400" y="1219200"/>
            <a:ext cx="8382000" cy="738664"/>
          </a:xfrm>
          <a:prstGeom prst="rect">
            <a:avLst/>
          </a:prstGeom>
          <a:noFill/>
        </p:spPr>
        <p:txBody>
          <a:bodyPr wrap="square" rtlCol="0">
            <a:spAutoFit/>
          </a:bodyPr>
          <a:lstStyle/>
          <a:p>
            <a:pPr lvl="0"/>
            <a:r>
              <a:rPr lang="en-US" sz="2400" dirty="0" smtClean="0"/>
              <a:t>Self authorization:- social status to have superior in society</a:t>
            </a:r>
          </a:p>
          <a:p>
            <a:endParaRPr lang="en-US" dirty="0"/>
          </a:p>
        </p:txBody>
      </p:sp>
      <p:sp>
        <p:nvSpPr>
          <p:cNvPr id="3" name="Isosceles Triangle 2"/>
          <p:cNvSpPr/>
          <p:nvPr/>
        </p:nvSpPr>
        <p:spPr>
          <a:xfrm>
            <a:off x="1371600" y="1905000"/>
            <a:ext cx="6934200" cy="457200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1981200" y="5715000"/>
            <a:ext cx="5715000" cy="76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smtClean="0"/>
              <a:t>Physiological needs</a:t>
            </a:r>
            <a:endParaRPr lang="en-US" sz="4000" dirty="0"/>
          </a:p>
        </p:txBody>
      </p:sp>
      <p:sp>
        <p:nvSpPr>
          <p:cNvPr id="5" name="Rectangle 4"/>
          <p:cNvSpPr/>
          <p:nvPr/>
        </p:nvSpPr>
        <p:spPr>
          <a:xfrm>
            <a:off x="2590800" y="4953000"/>
            <a:ext cx="4495800" cy="76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smtClean="0"/>
              <a:t>Safety needs</a:t>
            </a:r>
            <a:endParaRPr lang="en-US" sz="3600" dirty="0"/>
          </a:p>
        </p:txBody>
      </p:sp>
      <p:sp>
        <p:nvSpPr>
          <p:cNvPr id="7" name="Rectangle 6"/>
          <p:cNvSpPr/>
          <p:nvPr/>
        </p:nvSpPr>
        <p:spPr>
          <a:xfrm>
            <a:off x="3124200" y="4191000"/>
            <a:ext cx="3429000" cy="76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Social affiliation</a:t>
            </a:r>
            <a:endParaRPr lang="en-US" sz="2800" dirty="0"/>
          </a:p>
        </p:txBody>
      </p:sp>
      <p:sp>
        <p:nvSpPr>
          <p:cNvPr id="8" name="Rectangle 7"/>
          <p:cNvSpPr/>
          <p:nvPr/>
        </p:nvSpPr>
        <p:spPr>
          <a:xfrm>
            <a:off x="3733800" y="3429000"/>
            <a:ext cx="2209800" cy="76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Self -esteem</a:t>
            </a:r>
            <a:endParaRPr lang="en-US" sz="2400" dirty="0"/>
          </a:p>
        </p:txBody>
      </p:sp>
      <p:sp>
        <p:nvSpPr>
          <p:cNvPr id="9" name="Isosceles Triangle 8"/>
          <p:cNvSpPr/>
          <p:nvPr/>
        </p:nvSpPr>
        <p:spPr>
          <a:xfrm>
            <a:off x="3810000" y="1905000"/>
            <a:ext cx="2057400" cy="152400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t>Self </a:t>
            </a:r>
            <a:r>
              <a:rPr lang="en-US" sz="2000" dirty="0" err="1" smtClean="0"/>
              <a:t>authori-zation</a:t>
            </a:r>
            <a:endParaRPr lang="en-US" sz="2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914400"/>
            <a:ext cx="8458200" cy="2646878"/>
          </a:xfrm>
          <a:prstGeom prst="rect">
            <a:avLst/>
          </a:prstGeom>
          <a:noFill/>
        </p:spPr>
        <p:txBody>
          <a:bodyPr wrap="square" rtlCol="0">
            <a:spAutoFit/>
          </a:bodyPr>
          <a:lstStyle/>
          <a:p>
            <a:r>
              <a:rPr lang="en-US" sz="2800" dirty="0" smtClean="0"/>
              <a:t>THEORY “X” AND THEORY “Y”</a:t>
            </a:r>
          </a:p>
          <a:p>
            <a:endParaRPr lang="en-US" dirty="0" smtClean="0"/>
          </a:p>
          <a:p>
            <a:r>
              <a:rPr lang="en-US" sz="2400" dirty="0" smtClean="0"/>
              <a:t>Theory X and Theory Y were first explained by McGregor in his book, "The Human Side of Enterprise," and they refer to two styles of management </a:t>
            </a:r>
          </a:p>
          <a:p>
            <a:r>
              <a:rPr lang="en-US" sz="2400" dirty="0" smtClean="0"/>
              <a:t>— authoritarian (Theory X) and</a:t>
            </a:r>
          </a:p>
          <a:p>
            <a:r>
              <a:rPr lang="en-US" sz="2400" dirty="0" smtClean="0"/>
              <a:t>--participative (Theory Y).</a:t>
            </a:r>
            <a:endParaRPr lang="en-US" sz="2400" dirty="0"/>
          </a:p>
        </p:txBody>
      </p:sp>
      <p:sp>
        <p:nvSpPr>
          <p:cNvPr id="3" name="TextBox 2"/>
          <p:cNvSpPr txBox="1"/>
          <p:nvPr/>
        </p:nvSpPr>
        <p:spPr>
          <a:xfrm>
            <a:off x="381000" y="3657600"/>
            <a:ext cx="8458200" cy="2215991"/>
          </a:xfrm>
          <a:prstGeom prst="rect">
            <a:avLst/>
          </a:prstGeom>
          <a:noFill/>
        </p:spPr>
        <p:txBody>
          <a:bodyPr wrap="square" rtlCol="0">
            <a:spAutoFit/>
          </a:bodyPr>
          <a:lstStyle/>
          <a:p>
            <a:r>
              <a:rPr lang="en-US" sz="2400" dirty="0" smtClean="0"/>
              <a:t>THEORY “X”</a:t>
            </a:r>
          </a:p>
          <a:p>
            <a:pPr algn="just"/>
            <a:r>
              <a:rPr lang="en-US" sz="2400" dirty="0" smtClean="0"/>
              <a:t>Theory X managers tend to take a pessimistic view of their people, and assume that they are naturally unmotivated and dislike work. Authority is rarely given, and control remains centralized.</a:t>
            </a:r>
          </a:p>
          <a:p>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1000" y="533400"/>
            <a:ext cx="8382000" cy="2677656"/>
          </a:xfrm>
          <a:prstGeom prst="rect">
            <a:avLst/>
          </a:prstGeom>
          <a:noFill/>
        </p:spPr>
        <p:txBody>
          <a:bodyPr wrap="square" rtlCol="0">
            <a:spAutoFit/>
          </a:bodyPr>
          <a:lstStyle/>
          <a:p>
            <a:r>
              <a:rPr lang="en-US" sz="2400" dirty="0" smtClean="0"/>
              <a:t>THIS APPROACH ASSUMES THAT WORKERS:-</a:t>
            </a:r>
          </a:p>
          <a:p>
            <a:endParaRPr lang="en-US" sz="2400" dirty="0" smtClean="0"/>
          </a:p>
          <a:p>
            <a:r>
              <a:rPr lang="en-US" sz="2400" dirty="0" smtClean="0"/>
              <a:t>1) Dislike their work.</a:t>
            </a:r>
          </a:p>
          <a:p>
            <a:r>
              <a:rPr lang="en-US" sz="2400" dirty="0" smtClean="0"/>
              <a:t>2) Avoid responsibility and need constant direction.</a:t>
            </a:r>
          </a:p>
          <a:p>
            <a:r>
              <a:rPr lang="en-US" sz="2400" dirty="0" smtClean="0"/>
              <a:t>3) Have to be controlled, forced and threatened to deliver work.</a:t>
            </a:r>
          </a:p>
          <a:p>
            <a:r>
              <a:rPr lang="en-US" sz="2400" dirty="0" smtClean="0"/>
              <a:t>4) Need to be supervised at every step.</a:t>
            </a:r>
            <a:endParaRPr lang="en-US" dirty="0"/>
          </a:p>
        </p:txBody>
      </p:sp>
      <p:sp>
        <p:nvSpPr>
          <p:cNvPr id="3" name="TextBox 2"/>
          <p:cNvSpPr txBox="1"/>
          <p:nvPr/>
        </p:nvSpPr>
        <p:spPr>
          <a:xfrm>
            <a:off x="304800" y="4038600"/>
            <a:ext cx="8534400" cy="2215991"/>
          </a:xfrm>
          <a:prstGeom prst="rect">
            <a:avLst/>
          </a:prstGeom>
          <a:noFill/>
        </p:spPr>
        <p:txBody>
          <a:bodyPr wrap="square" rtlCol="0">
            <a:spAutoFit/>
          </a:bodyPr>
          <a:lstStyle/>
          <a:p>
            <a:r>
              <a:rPr lang="en-US" sz="2400" dirty="0" smtClean="0"/>
              <a:t>THEORY “Y”</a:t>
            </a:r>
          </a:p>
          <a:p>
            <a:pPr algn="just"/>
            <a:r>
              <a:rPr lang="en-US" sz="2400" dirty="0" smtClean="0"/>
              <a:t>Theory Y managers have an optimistic, positive opinion of their people, and they use a decentralized, participative management style. This encourages trust-based relationship between managers and their team members.</a:t>
            </a:r>
          </a:p>
          <a:p>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762000"/>
            <a:ext cx="8686800" cy="2677656"/>
          </a:xfrm>
          <a:prstGeom prst="rect">
            <a:avLst/>
          </a:prstGeom>
          <a:noFill/>
        </p:spPr>
        <p:txBody>
          <a:bodyPr wrap="square" rtlCol="0">
            <a:spAutoFit/>
          </a:bodyPr>
          <a:lstStyle/>
          <a:p>
            <a:r>
              <a:rPr lang="en-US" sz="2400" dirty="0" smtClean="0"/>
              <a:t>THIS APPROACH ASSUMES THAT WORKERS:-</a:t>
            </a:r>
          </a:p>
          <a:p>
            <a:endParaRPr lang="en-US" sz="2400" dirty="0" smtClean="0"/>
          </a:p>
          <a:p>
            <a:r>
              <a:rPr lang="en-US" sz="2400" dirty="0" smtClean="0"/>
              <a:t>1) Happy to work on their own initiative.</a:t>
            </a:r>
          </a:p>
          <a:p>
            <a:r>
              <a:rPr lang="en-US" sz="2400" dirty="0" smtClean="0"/>
              <a:t>2) More involved in decision making.</a:t>
            </a:r>
          </a:p>
          <a:p>
            <a:r>
              <a:rPr lang="en-US" sz="2400" dirty="0" smtClean="0"/>
              <a:t>3) Self-motivated to complete their tasks.</a:t>
            </a:r>
          </a:p>
          <a:p>
            <a:r>
              <a:rPr lang="en-US" sz="2400" dirty="0" smtClean="0"/>
              <a:t>4) Enjoy taking ownership of their work.</a:t>
            </a:r>
          </a:p>
          <a:p>
            <a:r>
              <a:rPr lang="en-US" sz="2400" dirty="0" smtClean="0"/>
              <a:t>5) Seek and accept responsibility, and need little direction.</a:t>
            </a:r>
            <a:endParaRPr lang="en-US" sz="2400" dirty="0"/>
          </a:p>
        </p:txBody>
      </p:sp>
      <p:sp>
        <p:nvSpPr>
          <p:cNvPr id="3" name="TextBox 2"/>
          <p:cNvSpPr txBox="1"/>
          <p:nvPr/>
        </p:nvSpPr>
        <p:spPr>
          <a:xfrm>
            <a:off x="152400" y="3657600"/>
            <a:ext cx="8839200" cy="3231654"/>
          </a:xfrm>
          <a:prstGeom prst="rect">
            <a:avLst/>
          </a:prstGeom>
          <a:noFill/>
        </p:spPr>
        <p:txBody>
          <a:bodyPr wrap="square" rtlCol="0">
            <a:spAutoFit/>
          </a:bodyPr>
          <a:lstStyle/>
          <a:p>
            <a:r>
              <a:rPr lang="en-US" sz="2400" dirty="0" smtClean="0"/>
              <a:t>Management Style and Control:</a:t>
            </a:r>
          </a:p>
          <a:p>
            <a:r>
              <a:rPr lang="en-US" dirty="0" smtClean="0"/>
              <a:t> </a:t>
            </a:r>
          </a:p>
          <a:p>
            <a:r>
              <a:rPr lang="en-US" sz="2400" dirty="0" smtClean="0"/>
              <a:t>In Theory X-type:-organization, management is authoritarian, and centralized control is maintained.</a:t>
            </a:r>
          </a:p>
          <a:p>
            <a:r>
              <a:rPr lang="en-US" sz="2400" dirty="0" smtClean="0"/>
              <a:t> </a:t>
            </a:r>
          </a:p>
          <a:p>
            <a:r>
              <a:rPr lang="en-US" sz="2400" dirty="0" smtClean="0"/>
              <a:t>While in Theory Y-type:-organization, the management style is participative, employees are involved decision making.</a:t>
            </a:r>
          </a:p>
          <a:p>
            <a:r>
              <a:rPr lang="en-US" sz="2400" dirty="0" smtClean="0"/>
              <a:t> </a:t>
            </a:r>
          </a:p>
          <a:p>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764024"/>
            <a:ext cx="8610600" cy="5724644"/>
          </a:xfrm>
          <a:prstGeom prst="rect">
            <a:avLst/>
          </a:prstGeom>
          <a:noFill/>
        </p:spPr>
        <p:txBody>
          <a:bodyPr wrap="square" rtlCol="0">
            <a:spAutoFit/>
          </a:bodyPr>
          <a:lstStyle/>
          <a:p>
            <a:r>
              <a:rPr lang="en-US" sz="2400" dirty="0" smtClean="0"/>
              <a:t>Rewards and Appraisals:</a:t>
            </a:r>
          </a:p>
          <a:p>
            <a:r>
              <a:rPr lang="en-US" dirty="0" smtClean="0"/>
              <a:t> </a:t>
            </a:r>
          </a:p>
          <a:p>
            <a:r>
              <a:rPr lang="en-US" dirty="0" smtClean="0"/>
              <a:t> </a:t>
            </a:r>
            <a:r>
              <a:rPr lang="en-US" sz="2400" dirty="0" smtClean="0"/>
              <a:t>Theory X-type:- organizations work on a ‘carrot and stick’ basis, If task in not completed within a deadline workers are punished.</a:t>
            </a:r>
          </a:p>
          <a:p>
            <a:r>
              <a:rPr lang="en-US" sz="2400" dirty="0" smtClean="0"/>
              <a:t> </a:t>
            </a:r>
          </a:p>
          <a:p>
            <a:r>
              <a:rPr lang="en-US" sz="2400" dirty="0" smtClean="0"/>
              <a:t>Theory Y-type organizations:- provide employees frequent opportunities for promotion. Bonus, salary increments are also awarded based on their performance.</a:t>
            </a:r>
          </a:p>
          <a:p>
            <a:r>
              <a:rPr lang="en-US" sz="2400" dirty="0" smtClean="0"/>
              <a:t> </a:t>
            </a:r>
          </a:p>
          <a:p>
            <a:r>
              <a:rPr lang="en-US" sz="2400" dirty="0" smtClean="0"/>
              <a:t>Work Organization:</a:t>
            </a:r>
          </a:p>
          <a:p>
            <a:endParaRPr lang="en-US" dirty="0" smtClean="0"/>
          </a:p>
          <a:p>
            <a:r>
              <a:rPr lang="en-US" sz="2400" dirty="0" smtClean="0"/>
              <a:t>--Theory X employees are specialized and the same work continues.</a:t>
            </a:r>
          </a:p>
          <a:p>
            <a:r>
              <a:rPr lang="en-US" sz="2400" dirty="0" smtClean="0"/>
              <a:t>— In Theory Y employees are motivated to develop expertise and new skills, and make suggestions and improvements.</a:t>
            </a:r>
          </a:p>
          <a:p>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914400"/>
            <a:ext cx="8763000" cy="4062651"/>
          </a:xfrm>
          <a:prstGeom prst="rect">
            <a:avLst/>
          </a:prstGeom>
          <a:noFill/>
        </p:spPr>
        <p:txBody>
          <a:bodyPr wrap="square" rtlCol="0">
            <a:spAutoFit/>
          </a:bodyPr>
          <a:lstStyle/>
          <a:p>
            <a:r>
              <a:rPr lang="en-US" sz="2400" dirty="0" smtClean="0"/>
              <a:t>Herzberg’s Two Factor Theory</a:t>
            </a:r>
          </a:p>
          <a:p>
            <a:pPr>
              <a:buFont typeface="Wingdings" pitchFamily="2" charset="2"/>
              <a:buChar char="§"/>
            </a:pPr>
            <a:r>
              <a:rPr lang="en-US" sz="2400" dirty="0" smtClean="0"/>
              <a:t> Frederick Herzberg developed the model in 1959.</a:t>
            </a:r>
          </a:p>
          <a:p>
            <a:pPr>
              <a:buFont typeface="Wingdings" pitchFamily="2" charset="2"/>
              <a:buChar char="§"/>
            </a:pPr>
            <a:r>
              <a:rPr lang="en-US" sz="2400" dirty="0" smtClean="0"/>
              <a:t> Interviewed over 200 professionals</a:t>
            </a:r>
          </a:p>
          <a:p>
            <a:pPr>
              <a:buFont typeface="Wingdings" pitchFamily="2" charset="2"/>
              <a:buChar char="§"/>
            </a:pPr>
            <a:r>
              <a:rPr lang="en-US" sz="2400" dirty="0" smtClean="0"/>
              <a:t> argues that there are two factors that an organization can adjust to influence motivation in the workplace.</a:t>
            </a:r>
          </a:p>
          <a:p>
            <a:endParaRPr lang="en-US" sz="2400" dirty="0" smtClean="0"/>
          </a:p>
          <a:p>
            <a:pPr>
              <a:buFont typeface="Wingdings" pitchFamily="2" charset="2"/>
              <a:buChar char="Ø"/>
            </a:pPr>
            <a:r>
              <a:rPr lang="en-US" sz="2400" dirty="0" smtClean="0"/>
              <a:t> Hygiene Factors( maintenance factors/ Dissatisfies) </a:t>
            </a:r>
          </a:p>
          <a:p>
            <a:pPr>
              <a:buFont typeface="Wingdings" pitchFamily="2" charset="2"/>
              <a:buChar char="q"/>
            </a:pPr>
            <a:r>
              <a:rPr lang="en-US" sz="2400" dirty="0" smtClean="0"/>
              <a:t> Dissatisfies</a:t>
            </a:r>
          </a:p>
          <a:p>
            <a:pPr>
              <a:buFont typeface="Wingdings" pitchFamily="2" charset="2"/>
              <a:buChar char="Ø"/>
            </a:pPr>
            <a:r>
              <a:rPr lang="en-US" sz="2400" dirty="0" smtClean="0"/>
              <a:t> Motivating Factors </a:t>
            </a:r>
          </a:p>
          <a:p>
            <a:pPr lvl="0">
              <a:buFont typeface="Wingdings" pitchFamily="2" charset="2"/>
              <a:buChar char="q"/>
            </a:pPr>
            <a:r>
              <a:rPr lang="en-US" sz="2400" dirty="0" smtClean="0"/>
              <a:t>   satisfiers</a:t>
            </a:r>
          </a:p>
          <a:p>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457200"/>
            <a:ext cx="8839200" cy="1938992"/>
          </a:xfrm>
          <a:prstGeom prst="rect">
            <a:avLst/>
          </a:prstGeom>
          <a:noFill/>
        </p:spPr>
        <p:txBody>
          <a:bodyPr wrap="square" rtlCol="0">
            <a:spAutoFit/>
          </a:bodyPr>
          <a:lstStyle/>
          <a:p>
            <a:r>
              <a:rPr lang="en-US" sz="2400" dirty="0" smtClean="0"/>
              <a:t>Herzberg’s Two Factor Theory</a:t>
            </a:r>
          </a:p>
          <a:p>
            <a:r>
              <a:rPr lang="en-US" sz="2400" dirty="0" smtClean="0"/>
              <a:t> </a:t>
            </a:r>
          </a:p>
          <a:p>
            <a:r>
              <a:rPr lang="en-US" sz="2400" dirty="0" smtClean="0"/>
              <a:t> Hygiene Factors (Maintenance factors / Dissatisfies/or no </a:t>
            </a:r>
            <a:r>
              <a:rPr lang="en-US" sz="2400" dirty="0" err="1" smtClean="0"/>
              <a:t>dissatisfaies</a:t>
            </a:r>
            <a:r>
              <a:rPr lang="en-US" sz="2400" dirty="0" smtClean="0"/>
              <a:t>)</a:t>
            </a:r>
          </a:p>
          <a:p>
            <a:r>
              <a:rPr lang="en-US" sz="2400" dirty="0" smtClean="0"/>
              <a:t> Related to condition under which job is performed</a:t>
            </a:r>
            <a:endParaRPr lang="en-US" sz="2400" dirty="0"/>
          </a:p>
        </p:txBody>
      </p:sp>
      <p:sp>
        <p:nvSpPr>
          <p:cNvPr id="3" name="TextBox 2"/>
          <p:cNvSpPr txBox="1"/>
          <p:nvPr/>
        </p:nvSpPr>
        <p:spPr>
          <a:xfrm>
            <a:off x="0" y="2057400"/>
            <a:ext cx="8382000" cy="3416320"/>
          </a:xfrm>
          <a:prstGeom prst="rect">
            <a:avLst/>
          </a:prstGeom>
          <a:noFill/>
        </p:spPr>
        <p:txBody>
          <a:bodyPr wrap="square" numCol="2" rtlCol="0">
            <a:spAutoFit/>
          </a:bodyPr>
          <a:lstStyle/>
          <a:p>
            <a:r>
              <a:rPr lang="en-US" sz="2400" dirty="0" smtClean="0"/>
              <a:t> </a:t>
            </a:r>
          </a:p>
          <a:p>
            <a:pPr>
              <a:buFont typeface="Wingdings" pitchFamily="2" charset="2"/>
              <a:buChar char="q"/>
            </a:pPr>
            <a:r>
              <a:rPr lang="en-US" sz="2400" dirty="0" smtClean="0"/>
              <a:t>Company Policy and Administration</a:t>
            </a:r>
          </a:p>
          <a:p>
            <a:r>
              <a:rPr lang="en-US" sz="2400" dirty="0" smtClean="0"/>
              <a:t> </a:t>
            </a:r>
          </a:p>
          <a:p>
            <a:pPr>
              <a:buFont typeface="Wingdings" pitchFamily="2" charset="2"/>
              <a:buChar char="q"/>
            </a:pPr>
            <a:r>
              <a:rPr lang="en-US" sz="2400" dirty="0" smtClean="0"/>
              <a:t>Technical Supervision</a:t>
            </a:r>
          </a:p>
          <a:p>
            <a:r>
              <a:rPr lang="en-US" sz="2400" dirty="0" smtClean="0"/>
              <a:t> </a:t>
            </a:r>
          </a:p>
          <a:p>
            <a:pPr>
              <a:buFont typeface="Wingdings" pitchFamily="2" charset="2"/>
              <a:buChar char="q"/>
            </a:pPr>
            <a:r>
              <a:rPr lang="en-US" sz="2400" dirty="0" smtClean="0"/>
              <a:t> Interpersonal relationship</a:t>
            </a:r>
          </a:p>
          <a:p>
            <a:r>
              <a:rPr lang="en-US" sz="2400" dirty="0" smtClean="0"/>
              <a:t> </a:t>
            </a:r>
          </a:p>
          <a:p>
            <a:pPr>
              <a:buFont typeface="Wingdings" pitchFamily="2" charset="2"/>
              <a:buChar char="q"/>
            </a:pPr>
            <a:r>
              <a:rPr lang="en-US" sz="2400" dirty="0" smtClean="0"/>
              <a:t> Salary</a:t>
            </a:r>
          </a:p>
          <a:p>
            <a:r>
              <a:rPr lang="en-US" sz="2400" dirty="0" smtClean="0"/>
              <a:t> </a:t>
            </a:r>
          </a:p>
          <a:p>
            <a:pPr>
              <a:buFont typeface="Wingdings" pitchFamily="2" charset="2"/>
              <a:buChar char="q"/>
            </a:pPr>
            <a:r>
              <a:rPr lang="en-US" sz="2400" dirty="0" smtClean="0"/>
              <a:t> Job security</a:t>
            </a:r>
          </a:p>
          <a:p>
            <a:r>
              <a:rPr lang="en-US" sz="2400" dirty="0" smtClean="0"/>
              <a:t> </a:t>
            </a:r>
          </a:p>
          <a:p>
            <a:pPr>
              <a:buFont typeface="Wingdings" pitchFamily="2" charset="2"/>
              <a:buChar char="q"/>
            </a:pPr>
            <a:r>
              <a:rPr lang="en-US" sz="2400" dirty="0" smtClean="0"/>
              <a:t> Personal life</a:t>
            </a:r>
          </a:p>
          <a:p>
            <a:r>
              <a:rPr lang="en-US" sz="2400" dirty="0" smtClean="0"/>
              <a:t> </a:t>
            </a:r>
          </a:p>
          <a:p>
            <a:pPr>
              <a:buFont typeface="Wingdings" pitchFamily="2" charset="2"/>
              <a:buChar char="q"/>
            </a:pPr>
            <a:r>
              <a:rPr lang="en-US" sz="2400" dirty="0" smtClean="0"/>
              <a:t> Working condition</a:t>
            </a:r>
          </a:p>
          <a:p>
            <a:r>
              <a:rPr lang="en-US" sz="2400" dirty="0" smtClean="0"/>
              <a:t> </a:t>
            </a:r>
          </a:p>
          <a:p>
            <a:pPr>
              <a:buFont typeface="Wingdings" pitchFamily="2" charset="2"/>
              <a:buChar char="q"/>
            </a:pPr>
            <a:r>
              <a:rPr lang="en-US" sz="2400" dirty="0" smtClean="0"/>
              <a:t> Status</a:t>
            </a:r>
            <a:endParaRPr lang="en-US" dirty="0"/>
          </a:p>
        </p:txBody>
      </p:sp>
      <p:sp>
        <p:nvSpPr>
          <p:cNvPr id="4" name="TextBox 3"/>
          <p:cNvSpPr txBox="1"/>
          <p:nvPr/>
        </p:nvSpPr>
        <p:spPr>
          <a:xfrm>
            <a:off x="0" y="5486400"/>
            <a:ext cx="9144000" cy="1477328"/>
          </a:xfrm>
          <a:prstGeom prst="rect">
            <a:avLst/>
          </a:prstGeom>
          <a:noFill/>
        </p:spPr>
        <p:txBody>
          <a:bodyPr wrap="square" rtlCol="0">
            <a:spAutoFit/>
          </a:bodyPr>
          <a:lstStyle/>
          <a:p>
            <a:pPr algn="just"/>
            <a:r>
              <a:rPr lang="en-US" sz="2400" dirty="0" smtClean="0"/>
              <a:t>Necessary to maintain at a reasonable level for satisfaction of employee . Any decrease in the level will dissatisfy them. Improving those factors helps to decrease Job satisfaction</a:t>
            </a:r>
          </a:p>
          <a:p>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609600"/>
            <a:ext cx="8686800" cy="5909310"/>
          </a:xfrm>
          <a:prstGeom prst="rect">
            <a:avLst/>
          </a:prstGeom>
          <a:noFill/>
        </p:spPr>
        <p:txBody>
          <a:bodyPr wrap="square" rtlCol="0">
            <a:spAutoFit/>
          </a:bodyPr>
          <a:lstStyle/>
          <a:p>
            <a:r>
              <a:rPr lang="en-US" dirty="0" smtClean="0"/>
              <a:t> </a:t>
            </a:r>
            <a:r>
              <a:rPr lang="en-US" sz="2400" dirty="0" smtClean="0"/>
              <a:t>Motivating Factors </a:t>
            </a:r>
          </a:p>
          <a:p>
            <a:endParaRPr lang="en-US" sz="2400" dirty="0" smtClean="0"/>
          </a:p>
          <a:p>
            <a:r>
              <a:rPr lang="en-US" sz="2400" dirty="0" smtClean="0"/>
              <a:t>Related to a job (satisfying or no satisfying but not dissatisfies )</a:t>
            </a:r>
          </a:p>
          <a:p>
            <a:r>
              <a:rPr lang="en-US" sz="2400" dirty="0" smtClean="0"/>
              <a:t> </a:t>
            </a:r>
          </a:p>
          <a:p>
            <a:pPr>
              <a:buFont typeface="Wingdings" pitchFamily="2" charset="2"/>
              <a:buChar char="q"/>
            </a:pPr>
            <a:r>
              <a:rPr lang="en-US" sz="2400" dirty="0" smtClean="0"/>
              <a:t>Achievement</a:t>
            </a:r>
          </a:p>
          <a:p>
            <a:r>
              <a:rPr lang="en-US" sz="2400" dirty="0" smtClean="0"/>
              <a:t> </a:t>
            </a:r>
          </a:p>
          <a:p>
            <a:pPr>
              <a:buFont typeface="Wingdings" pitchFamily="2" charset="2"/>
              <a:buChar char="q"/>
            </a:pPr>
            <a:r>
              <a:rPr lang="en-US" sz="2400" dirty="0" smtClean="0"/>
              <a:t> Recognition</a:t>
            </a:r>
          </a:p>
          <a:p>
            <a:r>
              <a:rPr lang="en-US" sz="2400" dirty="0" smtClean="0"/>
              <a:t> </a:t>
            </a:r>
          </a:p>
          <a:p>
            <a:pPr>
              <a:buFont typeface="Wingdings" pitchFamily="2" charset="2"/>
              <a:buChar char="q"/>
            </a:pPr>
            <a:r>
              <a:rPr lang="en-US" sz="2400" dirty="0" smtClean="0"/>
              <a:t> Advancement</a:t>
            </a:r>
          </a:p>
          <a:p>
            <a:r>
              <a:rPr lang="en-US" sz="2400" dirty="0" smtClean="0"/>
              <a:t> </a:t>
            </a:r>
          </a:p>
          <a:p>
            <a:pPr>
              <a:buFont typeface="Wingdings" pitchFamily="2" charset="2"/>
              <a:buChar char="q"/>
            </a:pPr>
            <a:r>
              <a:rPr lang="en-US" sz="2400" dirty="0" smtClean="0"/>
              <a:t> Possibility of growth and responsibility</a:t>
            </a:r>
          </a:p>
          <a:p>
            <a:endParaRPr lang="en-US" sz="2400" dirty="0" smtClean="0"/>
          </a:p>
          <a:p>
            <a:r>
              <a:rPr lang="en-US" sz="2400" dirty="0" smtClean="0">
                <a:sym typeface="Wingdings" pitchFamily="2" charset="2"/>
              </a:rPr>
              <a:t></a:t>
            </a:r>
            <a:r>
              <a:rPr lang="en-US" sz="2400" dirty="0" smtClean="0"/>
              <a:t> Any decrease in the factors will not affect the satisfaction</a:t>
            </a:r>
          </a:p>
          <a:p>
            <a:r>
              <a:rPr lang="en-US" sz="2400" dirty="0" smtClean="0">
                <a:sym typeface="Wingdings" pitchFamily="2" charset="2"/>
              </a:rPr>
              <a:t></a:t>
            </a:r>
            <a:r>
              <a:rPr lang="en-US" sz="2400" dirty="0" smtClean="0"/>
              <a:t> Any increase in these factors will satisfy the employees</a:t>
            </a:r>
          </a:p>
          <a:p>
            <a:r>
              <a:rPr lang="en-US" sz="2400" dirty="0" smtClean="0">
                <a:sym typeface="Wingdings" pitchFamily="2" charset="2"/>
              </a:rPr>
              <a:t></a:t>
            </a:r>
            <a:r>
              <a:rPr lang="en-US" sz="2400" dirty="0" smtClean="0"/>
              <a:t> Used in motivating them for higher performance</a:t>
            </a:r>
          </a:p>
          <a:p>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609600"/>
            <a:ext cx="8458200" cy="6093976"/>
          </a:xfrm>
          <a:prstGeom prst="rect">
            <a:avLst/>
          </a:prstGeom>
          <a:noFill/>
        </p:spPr>
        <p:txBody>
          <a:bodyPr wrap="square" rtlCol="0">
            <a:spAutoFit/>
          </a:bodyPr>
          <a:lstStyle/>
          <a:p>
            <a:r>
              <a:rPr lang="en-US" sz="2800" dirty="0" smtClean="0"/>
              <a:t>Theory Z Objectives(Japanese management style)-by </a:t>
            </a:r>
            <a:r>
              <a:rPr lang="en-US" sz="2800" b="1" dirty="0" smtClean="0"/>
              <a:t>William G. </a:t>
            </a:r>
            <a:r>
              <a:rPr lang="en-US" sz="2800" b="1" dirty="0" err="1" smtClean="0"/>
              <a:t>Ouchi</a:t>
            </a:r>
            <a:endParaRPr lang="en-US" sz="2800" dirty="0" smtClean="0"/>
          </a:p>
          <a:p>
            <a:endParaRPr lang="en-US" sz="2800" dirty="0" smtClean="0"/>
          </a:p>
          <a:p>
            <a:r>
              <a:rPr lang="en-US" sz="2400" dirty="0" smtClean="0">
                <a:sym typeface="Wingdings" pitchFamily="2" charset="2"/>
              </a:rPr>
              <a:t></a:t>
            </a:r>
            <a:r>
              <a:rPr lang="en-US" sz="2400" dirty="0" smtClean="0"/>
              <a:t> Employees should not be thrown out frequently rather emphasis should be on building long term employment relationship</a:t>
            </a:r>
          </a:p>
          <a:p>
            <a:r>
              <a:rPr lang="en-US" sz="2400" dirty="0" smtClean="0">
                <a:sym typeface="Wingdings" pitchFamily="2" charset="2"/>
              </a:rPr>
              <a:t></a:t>
            </a:r>
            <a:r>
              <a:rPr lang="en-US" sz="2400" dirty="0" smtClean="0"/>
              <a:t> It emphasis that org. should focused on training rather</a:t>
            </a:r>
          </a:p>
          <a:p>
            <a:r>
              <a:rPr lang="en-US" sz="2400" dirty="0" smtClean="0"/>
              <a:t>than evaluation and, other incentives than promotions </a:t>
            </a:r>
          </a:p>
          <a:p>
            <a:r>
              <a:rPr lang="en-US" sz="2400" dirty="0" smtClean="0">
                <a:sym typeface="Wingdings" pitchFamily="2" charset="2"/>
              </a:rPr>
              <a:t></a:t>
            </a:r>
            <a:r>
              <a:rPr lang="en-US" sz="2400" dirty="0" smtClean="0"/>
              <a:t> Decisions should be taken through joint consultation.</a:t>
            </a:r>
          </a:p>
          <a:p>
            <a:r>
              <a:rPr lang="en-US" sz="2400" dirty="0" smtClean="0">
                <a:sym typeface="Wingdings" pitchFamily="2" charset="2"/>
              </a:rPr>
              <a:t></a:t>
            </a:r>
            <a:r>
              <a:rPr lang="en-US" sz="2400" dirty="0" smtClean="0"/>
              <a:t> Emphasis on joint free responsibility rather than  individual responsibility. </a:t>
            </a:r>
          </a:p>
          <a:p>
            <a:r>
              <a:rPr lang="en-US" sz="2400" dirty="0" smtClean="0">
                <a:sym typeface="Wingdings" pitchFamily="2" charset="2"/>
              </a:rPr>
              <a:t></a:t>
            </a:r>
            <a:r>
              <a:rPr lang="en-US" sz="2400" dirty="0" smtClean="0"/>
              <a:t> Focus should be on job rotation and proper training to make familiar with different type of work.</a:t>
            </a:r>
          </a:p>
          <a:p>
            <a:r>
              <a:rPr lang="en-US" sz="2400" dirty="0" smtClean="0">
                <a:sym typeface="Wingdings" pitchFamily="2" charset="2"/>
              </a:rPr>
              <a:t></a:t>
            </a:r>
            <a:r>
              <a:rPr lang="en-US" sz="2400" dirty="0" smtClean="0"/>
              <a:t> Management must make efforts to solve the organizational as well as the personal problems.</a:t>
            </a:r>
          </a:p>
          <a:p>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2400" y="609600"/>
            <a:ext cx="8686800" cy="5724644"/>
          </a:xfrm>
          <a:prstGeom prst="rect">
            <a:avLst/>
          </a:prstGeom>
          <a:noFill/>
        </p:spPr>
        <p:txBody>
          <a:bodyPr wrap="square" rtlCol="0">
            <a:spAutoFit/>
          </a:bodyPr>
          <a:lstStyle/>
          <a:p>
            <a:r>
              <a:rPr lang="en-US" sz="2400" dirty="0" smtClean="0"/>
              <a:t>Feature of Theory Z</a:t>
            </a:r>
          </a:p>
          <a:p>
            <a:endParaRPr lang="en-US" dirty="0" smtClean="0"/>
          </a:p>
          <a:p>
            <a:r>
              <a:rPr lang="en-US" sz="2400" dirty="0" smtClean="0"/>
              <a:t>1) strong bond between organization and employees:</a:t>
            </a:r>
          </a:p>
          <a:p>
            <a:r>
              <a:rPr lang="en-US" sz="2400" dirty="0" smtClean="0"/>
              <a:t>Life- time employment of employees, avoiding retirement , lay-off.(</a:t>
            </a:r>
            <a:r>
              <a:rPr lang="ne-NP" sz="2400" dirty="0" smtClean="0"/>
              <a:t>जागिर कटौंती</a:t>
            </a:r>
            <a:r>
              <a:rPr lang="en-US" sz="2400" dirty="0" smtClean="0"/>
              <a:t>)</a:t>
            </a:r>
          </a:p>
          <a:p>
            <a:r>
              <a:rPr lang="en-US" sz="2400" dirty="0" smtClean="0"/>
              <a:t> </a:t>
            </a:r>
          </a:p>
          <a:p>
            <a:r>
              <a:rPr lang="en-US" sz="2400" dirty="0" smtClean="0"/>
              <a:t> Promotion based on seniority, making people stay waiting for their chance of advancement.</a:t>
            </a:r>
          </a:p>
          <a:p>
            <a:r>
              <a:rPr lang="en-US" sz="2400" dirty="0" smtClean="0"/>
              <a:t> </a:t>
            </a:r>
          </a:p>
          <a:p>
            <a:r>
              <a:rPr lang="en-US" sz="2400" dirty="0" smtClean="0"/>
              <a:t>Concern for employees (taking care of health, welfare of Employees)</a:t>
            </a:r>
          </a:p>
          <a:p>
            <a:r>
              <a:rPr lang="en-US" sz="2400" dirty="0" smtClean="0"/>
              <a:t> </a:t>
            </a:r>
          </a:p>
          <a:p>
            <a:r>
              <a:rPr lang="en-US" sz="2400" dirty="0" smtClean="0"/>
              <a:t>2) Collective decision making: in that Z type of org., decisions are taken collectively by managers and employees.</a:t>
            </a:r>
          </a:p>
          <a:p>
            <a:r>
              <a:rPr lang="en-US" dirty="0" smtClean="0"/>
              <a:t> </a:t>
            </a:r>
          </a:p>
          <a:p>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914400"/>
            <a:ext cx="8610600" cy="2954655"/>
          </a:xfrm>
          <a:prstGeom prst="rect">
            <a:avLst/>
          </a:prstGeom>
          <a:noFill/>
        </p:spPr>
        <p:txBody>
          <a:bodyPr wrap="square" rtlCol="0">
            <a:spAutoFit/>
          </a:bodyPr>
          <a:lstStyle/>
          <a:p>
            <a:r>
              <a:rPr lang="en-US" sz="2400" dirty="0" smtClean="0"/>
              <a:t>3) Free- form organizational structure: Theory Z suppose no</a:t>
            </a:r>
          </a:p>
          <a:p>
            <a:r>
              <a:rPr lang="en-US" sz="2400" dirty="0" smtClean="0"/>
              <a:t>formal structure for the organization. The structure should be</a:t>
            </a:r>
          </a:p>
          <a:p>
            <a:r>
              <a:rPr lang="en-US" sz="2400" dirty="0" smtClean="0"/>
              <a:t>on team work and corporation.</a:t>
            </a:r>
          </a:p>
          <a:p>
            <a:endParaRPr lang="en-US" sz="2400" dirty="0" smtClean="0"/>
          </a:p>
          <a:p>
            <a:r>
              <a:rPr lang="en-US" sz="2400" dirty="0" smtClean="0"/>
              <a:t>4) Encouraging Human Creativity and imagination; creative thinking and proper imagination can help to solve many problems. This quality is commonly seen among people.</a:t>
            </a:r>
          </a:p>
          <a:p>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487025"/>
            <a:ext cx="8686800" cy="6370975"/>
          </a:xfrm>
          <a:prstGeom prst="rect">
            <a:avLst/>
          </a:prstGeom>
          <a:noFill/>
        </p:spPr>
        <p:txBody>
          <a:bodyPr wrap="square" rtlCol="0">
            <a:spAutoFit/>
          </a:bodyPr>
          <a:lstStyle/>
          <a:p>
            <a:r>
              <a:rPr lang="en-US" sz="2400" b="1" dirty="0" smtClean="0"/>
              <a:t>Contribution of Human Relation and Behavioral Science Perspectives</a:t>
            </a:r>
          </a:p>
          <a:p>
            <a:pPr algn="just">
              <a:buFont typeface="Wingdings" pitchFamily="2" charset="2"/>
              <a:buChar char="Ø"/>
            </a:pPr>
            <a:r>
              <a:rPr lang="en-US" sz="2400" dirty="0" smtClean="0"/>
              <a:t>These perspectives shifted the focus of technical approach of management to the human and social of the organization.</a:t>
            </a:r>
          </a:p>
          <a:p>
            <a:pPr algn="just">
              <a:buFont typeface="Wingdings" pitchFamily="2" charset="2"/>
              <a:buChar char="Ø"/>
            </a:pPr>
            <a:r>
              <a:rPr lang="en-US" sz="2400" dirty="0" smtClean="0"/>
              <a:t>These perspectives provide many non-monetary motivational perspectives which are important not only to motivate employees but to retain them in the organizations</a:t>
            </a:r>
          </a:p>
          <a:p>
            <a:pPr algn="just">
              <a:buFont typeface="Wingdings" pitchFamily="2" charset="2"/>
              <a:buChar char="Ø"/>
            </a:pPr>
            <a:r>
              <a:rPr lang="en-US" sz="2400" dirty="0" smtClean="0"/>
              <a:t>These perspectives give emphasis on personal and informal relationship among the employees to improve the quality of work life.</a:t>
            </a:r>
          </a:p>
          <a:p>
            <a:pPr algn="just">
              <a:buFont typeface="Wingdings" pitchFamily="2" charset="2"/>
              <a:buChar char="Ø"/>
            </a:pPr>
            <a:r>
              <a:rPr lang="en-US" sz="2400" dirty="0" smtClean="0"/>
              <a:t>These perspectives have emphasized on informal organization system.</a:t>
            </a:r>
          </a:p>
          <a:p>
            <a:pPr algn="just">
              <a:buFont typeface="Wingdings" pitchFamily="2" charset="2"/>
              <a:buChar char="Ø"/>
            </a:pPr>
            <a:r>
              <a:rPr lang="en-US" sz="2400" dirty="0" smtClean="0"/>
              <a:t>These perspectives make organizational behavior as a new discipline of study</a:t>
            </a:r>
          </a:p>
          <a:p>
            <a:pPr algn="just">
              <a:buFont typeface="Wingdings" pitchFamily="2" charset="2"/>
              <a:buChar char="Ø"/>
            </a:pPr>
            <a:r>
              <a:rPr lang="en-US" sz="2400" dirty="0" smtClean="0"/>
              <a:t>These perspectives give more importance to non-financial incentives and rewards such as recognition and appreciation to motivate employees and to improve their productivity. </a:t>
            </a:r>
            <a:endParaRPr lang="en-US" sz="2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685800"/>
            <a:ext cx="8686800" cy="6555641"/>
          </a:xfrm>
          <a:prstGeom prst="rect">
            <a:avLst/>
          </a:prstGeom>
          <a:noFill/>
        </p:spPr>
        <p:txBody>
          <a:bodyPr wrap="square" rtlCol="0">
            <a:spAutoFit/>
          </a:bodyPr>
          <a:lstStyle/>
          <a:p>
            <a:r>
              <a:rPr lang="en-US" sz="2400" b="1" dirty="0" smtClean="0"/>
              <a:t>Limitation of human relation and behavioral science perspectives</a:t>
            </a:r>
          </a:p>
          <a:p>
            <a:pPr>
              <a:buFont typeface="Wingdings" pitchFamily="2" charset="2"/>
              <a:buChar char="Ø"/>
            </a:pPr>
            <a:r>
              <a:rPr lang="en-US" sz="2400" dirty="0" smtClean="0"/>
              <a:t>The assumptions of these perspectives are complex and vague. Human behaviors are complex and difficult to understand. It can be understood only by behavioral scientists not by all the managers.</a:t>
            </a:r>
          </a:p>
          <a:p>
            <a:pPr>
              <a:buFont typeface="Wingdings" pitchFamily="2" charset="2"/>
              <a:buChar char="Ø"/>
            </a:pPr>
            <a:r>
              <a:rPr lang="en-US" sz="2400" dirty="0" smtClean="0"/>
              <a:t>These perspectives give over emphasis on human variables than all other  variables in the organization.</a:t>
            </a:r>
          </a:p>
          <a:p>
            <a:pPr>
              <a:buFont typeface="Wingdings" pitchFamily="2" charset="2"/>
              <a:buChar char="Ø"/>
            </a:pPr>
            <a:r>
              <a:rPr lang="en-US" sz="2400" dirty="0" smtClean="0"/>
              <a:t>Informal groups and personal relationship in the organization cannot always be helpful. It may minimize the morale and discipline of formal organization structure.</a:t>
            </a:r>
          </a:p>
          <a:p>
            <a:pPr>
              <a:buFont typeface="Wingdings" pitchFamily="2" charset="2"/>
              <a:buChar char="Ø"/>
            </a:pPr>
            <a:r>
              <a:rPr lang="en-US" sz="2400" dirty="0" smtClean="0"/>
              <a:t>Human needs and expectations can be situational which are beyond the consideration  of  these perspectives.</a:t>
            </a:r>
          </a:p>
          <a:p>
            <a:pPr>
              <a:buFont typeface="Wingdings" pitchFamily="2" charset="2"/>
              <a:buChar char="Ø"/>
            </a:pPr>
            <a:r>
              <a:rPr lang="en-US" sz="2400" dirty="0" smtClean="0"/>
              <a:t>Human behavior cannot be assumed as estimated by the behavioral science theory.</a:t>
            </a:r>
          </a:p>
          <a:p>
            <a:pPr>
              <a:buFont typeface="Wingdings" pitchFamily="2" charset="2"/>
              <a:buChar char="Ø"/>
            </a:pPr>
            <a:r>
              <a:rPr lang="en-US" sz="2400" dirty="0" smtClean="0"/>
              <a:t>Situational factors are ignored in these perspectives as well.</a:t>
            </a:r>
          </a:p>
          <a:p>
            <a:pPr>
              <a:buFont typeface="Wingdings" pitchFamily="2" charset="2"/>
              <a:buChar char="Ø"/>
            </a:pPr>
            <a:endParaRPr lang="en-US" dirty="0" smtClean="0"/>
          </a:p>
          <a:p>
            <a:pPr>
              <a:buFont typeface="Wingdings" pitchFamily="2" charset="2"/>
              <a:buChar char="Ø"/>
            </a:pPr>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362200" y="457200"/>
            <a:ext cx="41910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MODERN APPROACH</a:t>
            </a:r>
            <a:endParaRPr lang="en-US" sz="2400" dirty="0"/>
          </a:p>
        </p:txBody>
      </p:sp>
      <p:sp>
        <p:nvSpPr>
          <p:cNvPr id="4" name="Rectangle 3"/>
          <p:cNvSpPr/>
          <p:nvPr/>
        </p:nvSpPr>
        <p:spPr>
          <a:xfrm>
            <a:off x="152400" y="1600200"/>
            <a:ext cx="23622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Quantitative Approach</a:t>
            </a:r>
            <a:endParaRPr lang="en-US" sz="2400" dirty="0"/>
          </a:p>
        </p:txBody>
      </p:sp>
      <p:sp>
        <p:nvSpPr>
          <p:cNvPr id="5" name="Rectangle 4"/>
          <p:cNvSpPr/>
          <p:nvPr/>
        </p:nvSpPr>
        <p:spPr>
          <a:xfrm>
            <a:off x="3505200" y="1600200"/>
            <a:ext cx="22860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System Approach</a:t>
            </a:r>
            <a:endParaRPr lang="en-US" sz="2400" dirty="0"/>
          </a:p>
        </p:txBody>
      </p:sp>
      <p:sp>
        <p:nvSpPr>
          <p:cNvPr id="6" name="Rectangle 5"/>
          <p:cNvSpPr/>
          <p:nvPr/>
        </p:nvSpPr>
        <p:spPr>
          <a:xfrm>
            <a:off x="6629400" y="1600200"/>
            <a:ext cx="22098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Contingency Approach</a:t>
            </a:r>
            <a:endParaRPr lang="en-US" sz="2400" dirty="0"/>
          </a:p>
        </p:txBody>
      </p:sp>
      <p:cxnSp>
        <p:nvCxnSpPr>
          <p:cNvPr id="10" name="Straight Connector 9"/>
          <p:cNvCxnSpPr/>
          <p:nvPr/>
        </p:nvCxnSpPr>
        <p:spPr>
          <a:xfrm>
            <a:off x="1295400" y="1447800"/>
            <a:ext cx="64770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15" name="Down Arrow 14"/>
          <p:cNvSpPr/>
          <p:nvPr/>
        </p:nvSpPr>
        <p:spPr>
          <a:xfrm>
            <a:off x="4419600" y="1143000"/>
            <a:ext cx="45719" cy="2286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own Arrow 15"/>
          <p:cNvSpPr/>
          <p:nvPr/>
        </p:nvSpPr>
        <p:spPr>
          <a:xfrm>
            <a:off x="7772400" y="1447800"/>
            <a:ext cx="45719" cy="1524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Down Arrow 16"/>
          <p:cNvSpPr/>
          <p:nvPr/>
        </p:nvSpPr>
        <p:spPr>
          <a:xfrm>
            <a:off x="1295400" y="1447800"/>
            <a:ext cx="76200" cy="1524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Down Arrow 17"/>
          <p:cNvSpPr/>
          <p:nvPr/>
        </p:nvSpPr>
        <p:spPr>
          <a:xfrm>
            <a:off x="4419600" y="1447800"/>
            <a:ext cx="45719" cy="1524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1000" y="762000"/>
            <a:ext cx="8229600" cy="6186309"/>
          </a:xfrm>
          <a:prstGeom prst="rect">
            <a:avLst/>
          </a:prstGeom>
          <a:noFill/>
        </p:spPr>
        <p:txBody>
          <a:bodyPr wrap="square" rtlCol="0">
            <a:spAutoFit/>
          </a:bodyPr>
          <a:lstStyle/>
          <a:p>
            <a:r>
              <a:rPr lang="en-US" sz="2400" b="1" dirty="0" smtClean="0"/>
              <a:t>Quantitative Approach</a:t>
            </a:r>
            <a:r>
              <a:rPr lang="en-US" b="1" dirty="0" smtClean="0"/>
              <a:t>: </a:t>
            </a:r>
          </a:p>
          <a:p>
            <a:endParaRPr lang="en-US" dirty="0" smtClean="0"/>
          </a:p>
          <a:p>
            <a:pPr algn="just"/>
            <a:r>
              <a:rPr lang="en-US" sz="2400" dirty="0" smtClean="0"/>
              <a:t>This approach has been given by C.W. Churchman and his coordinators. The supporters of this approach treat the management as mathematical model. Under the quantitative approach, the manager is suggested to solve the problems through “Mathematical Statistics.</a:t>
            </a:r>
          </a:p>
          <a:p>
            <a:pPr algn="just"/>
            <a:r>
              <a:rPr lang="en-US" sz="2400" dirty="0" smtClean="0"/>
              <a:t> </a:t>
            </a:r>
          </a:p>
          <a:p>
            <a:pPr lvl="0">
              <a:buFont typeface="Wingdings" pitchFamily="2" charset="2"/>
              <a:buChar char="Ø"/>
            </a:pPr>
            <a:r>
              <a:rPr lang="en-US" sz="2400" dirty="0" smtClean="0"/>
              <a:t>Theory of probability</a:t>
            </a:r>
          </a:p>
          <a:p>
            <a:pPr lvl="0">
              <a:buFont typeface="Wingdings" pitchFamily="2" charset="2"/>
              <a:buChar char="Ø"/>
            </a:pPr>
            <a:r>
              <a:rPr lang="en-US" sz="2400" dirty="0" smtClean="0"/>
              <a:t>Ratio analysis</a:t>
            </a:r>
          </a:p>
          <a:p>
            <a:pPr lvl="0">
              <a:buFont typeface="Wingdings" pitchFamily="2" charset="2"/>
              <a:buChar char="Ø"/>
            </a:pPr>
            <a:r>
              <a:rPr lang="en-US" sz="2400" dirty="0" smtClean="0"/>
              <a:t>Linear programming </a:t>
            </a:r>
          </a:p>
          <a:p>
            <a:pPr lvl="0">
              <a:buFont typeface="Wingdings" pitchFamily="2" charset="2"/>
              <a:buChar char="Ø"/>
            </a:pPr>
            <a:r>
              <a:rPr lang="en-US" sz="2400" dirty="0" smtClean="0"/>
              <a:t>Variance analysis</a:t>
            </a:r>
          </a:p>
          <a:p>
            <a:pPr lvl="0">
              <a:buFont typeface="Wingdings" pitchFamily="2" charset="2"/>
              <a:buChar char="Ø"/>
            </a:pPr>
            <a:r>
              <a:rPr lang="en-US" sz="2400" dirty="0" smtClean="0"/>
              <a:t>Break even analysis</a:t>
            </a:r>
          </a:p>
          <a:p>
            <a:pPr algn="just"/>
            <a:endParaRPr lang="en-US" sz="2400" dirty="0" smtClean="0"/>
          </a:p>
          <a:p>
            <a:pPr algn="just"/>
            <a:endParaRPr lang="en-US" sz="2400" dirty="0" smtClean="0"/>
          </a:p>
          <a:p>
            <a:pPr algn="just"/>
            <a:endParaRPr lang="en-US" sz="2400" dirty="0" smtClean="0"/>
          </a:p>
          <a:p>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685800"/>
            <a:ext cx="8915400" cy="1569660"/>
          </a:xfrm>
          <a:prstGeom prst="rect">
            <a:avLst/>
          </a:prstGeom>
          <a:noFill/>
        </p:spPr>
        <p:txBody>
          <a:bodyPr wrap="square" rtlCol="0">
            <a:spAutoFit/>
          </a:bodyPr>
          <a:lstStyle/>
          <a:p>
            <a:r>
              <a:rPr lang="en-US" sz="2400" b="1" dirty="0" smtClean="0"/>
              <a:t>Systems Approach</a:t>
            </a:r>
          </a:p>
          <a:p>
            <a:endParaRPr lang="en-US" sz="2400" dirty="0" smtClean="0"/>
          </a:p>
          <a:p>
            <a:r>
              <a:rPr lang="en-US" sz="2400" dirty="0" smtClean="0"/>
              <a:t>A system is a set of different independent parts working together in an interrelated manner to accomplish a set of objectives</a:t>
            </a:r>
            <a:endParaRPr lang="en-US" dirty="0"/>
          </a:p>
        </p:txBody>
      </p:sp>
      <p:sp>
        <p:nvSpPr>
          <p:cNvPr id="3" name="TextBox 2"/>
          <p:cNvSpPr txBox="1"/>
          <p:nvPr/>
        </p:nvSpPr>
        <p:spPr>
          <a:xfrm>
            <a:off x="152400" y="2362200"/>
            <a:ext cx="8991600" cy="5816977"/>
          </a:xfrm>
          <a:prstGeom prst="rect">
            <a:avLst/>
          </a:prstGeom>
          <a:noFill/>
        </p:spPr>
        <p:txBody>
          <a:bodyPr wrap="square" rtlCol="0">
            <a:spAutoFit/>
          </a:bodyPr>
          <a:lstStyle/>
          <a:p>
            <a:r>
              <a:rPr lang="en-US" sz="2400" b="1" dirty="0" smtClean="0"/>
              <a:t>Features of a system</a:t>
            </a:r>
          </a:p>
          <a:p>
            <a:r>
              <a:rPr lang="en-US" dirty="0" smtClean="0"/>
              <a:t> </a:t>
            </a:r>
          </a:p>
          <a:p>
            <a:pPr marL="342900" indent="-342900">
              <a:buAutoNum type="arabicPeriod"/>
            </a:pPr>
            <a:r>
              <a:rPr lang="en-US" sz="2400" dirty="0" smtClean="0"/>
              <a:t>A system is a combination of parts, subsystems, Each part may have various sub -parts</a:t>
            </a:r>
          </a:p>
          <a:p>
            <a:r>
              <a:rPr lang="en-US" sz="2400" dirty="0" smtClean="0"/>
              <a:t>2. Parts and sub parts of a system are mutually related to each other</a:t>
            </a:r>
          </a:p>
          <a:p>
            <a:r>
              <a:rPr lang="en-US" sz="2400" dirty="0" smtClean="0"/>
              <a:t> </a:t>
            </a:r>
          </a:p>
          <a:p>
            <a:r>
              <a:rPr lang="en-US" sz="2400" dirty="0" smtClean="0"/>
              <a:t>3. A system is not merely the totality of parts. The whole is greater than the sum  of individual parts  (Known as synergy) Features of a system</a:t>
            </a:r>
          </a:p>
          <a:p>
            <a:r>
              <a:rPr lang="en-US" sz="2400" dirty="0" smtClean="0"/>
              <a:t> </a:t>
            </a:r>
          </a:p>
          <a:p>
            <a:r>
              <a:rPr lang="en-US" sz="2400" dirty="0" smtClean="0"/>
              <a:t>4. A system can be identified by its boundary</a:t>
            </a:r>
          </a:p>
          <a:p>
            <a:endParaRPr lang="en-US" sz="2400" dirty="0" smtClean="0"/>
          </a:p>
          <a:p>
            <a:pPr marL="342900" indent="-342900">
              <a:buAutoNum type="arabicPeriod"/>
            </a:pPr>
            <a:endParaRPr lang="en-US" dirty="0" smtClean="0"/>
          </a:p>
          <a:p>
            <a:pPr marL="342900" indent="-342900">
              <a:buAutoNum type="arabicPeriod"/>
            </a:pPr>
            <a:endParaRPr lang="en-US" dirty="0" smtClean="0"/>
          </a:p>
          <a:p>
            <a:endParaRPr lang="en-US" dirty="0" smtClean="0"/>
          </a:p>
          <a:p>
            <a:r>
              <a:rPr lang="en-US" dirty="0" smtClean="0"/>
              <a:t> </a:t>
            </a:r>
          </a:p>
          <a:p>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1000" y="685800"/>
            <a:ext cx="8763000" cy="3970318"/>
          </a:xfrm>
          <a:prstGeom prst="rect">
            <a:avLst/>
          </a:prstGeom>
          <a:noFill/>
        </p:spPr>
        <p:txBody>
          <a:bodyPr wrap="square" rtlCol="0">
            <a:spAutoFit/>
          </a:bodyPr>
          <a:lstStyle/>
          <a:p>
            <a:r>
              <a:rPr lang="en-US" sz="2400" dirty="0" smtClean="0"/>
              <a:t>5. The boundary of a system classifies it into 2 parts — </a:t>
            </a:r>
          </a:p>
          <a:p>
            <a:r>
              <a:rPr lang="en-US" sz="2400" b="1" dirty="0" smtClean="0"/>
              <a:t>closed system </a:t>
            </a:r>
            <a:r>
              <a:rPr lang="en-US" sz="2400" dirty="0" smtClean="0"/>
              <a:t>and </a:t>
            </a:r>
            <a:r>
              <a:rPr lang="en-US" sz="2400" b="1" dirty="0" smtClean="0"/>
              <a:t>open system </a:t>
            </a:r>
          </a:p>
          <a:p>
            <a:r>
              <a:rPr lang="en-US" dirty="0" smtClean="0"/>
              <a:t> </a:t>
            </a:r>
          </a:p>
          <a:p>
            <a:r>
              <a:rPr lang="en-US" sz="2400" dirty="0" smtClean="0"/>
              <a:t>6. A system transforms inputs into outputs . Inputs can be information, money, materials, man, etc.</a:t>
            </a:r>
          </a:p>
          <a:p>
            <a:r>
              <a:rPr lang="en-US" sz="2400" dirty="0" smtClean="0"/>
              <a:t> </a:t>
            </a:r>
          </a:p>
          <a:p>
            <a:r>
              <a:rPr lang="en-US" sz="2400" dirty="0" smtClean="0"/>
              <a:t>« Transformation process involves production, marketing, finance, H.R. Depts. (which  perform planning, organizing, directing, controlling functions)</a:t>
            </a:r>
          </a:p>
          <a:p>
            <a:r>
              <a:rPr lang="en-US" sz="2400" dirty="0" smtClean="0"/>
              <a:t>Output:- final product or services </a:t>
            </a:r>
          </a:p>
          <a:p>
            <a:endParaRPr lang="en-US" dirty="0"/>
          </a:p>
        </p:txBody>
      </p:sp>
      <p:sp>
        <p:nvSpPr>
          <p:cNvPr id="3" name="Rectangle 2"/>
          <p:cNvSpPr/>
          <p:nvPr/>
        </p:nvSpPr>
        <p:spPr>
          <a:xfrm>
            <a:off x="609600" y="5029200"/>
            <a:ext cx="19050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Input</a:t>
            </a:r>
            <a:endParaRPr lang="en-US" sz="2400" dirty="0"/>
          </a:p>
        </p:txBody>
      </p:sp>
      <p:sp>
        <p:nvSpPr>
          <p:cNvPr id="4" name="Rectangle 3"/>
          <p:cNvSpPr/>
          <p:nvPr/>
        </p:nvSpPr>
        <p:spPr>
          <a:xfrm>
            <a:off x="6400800" y="5029200"/>
            <a:ext cx="21336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Output</a:t>
            </a:r>
            <a:endParaRPr lang="en-US" sz="2400" dirty="0"/>
          </a:p>
        </p:txBody>
      </p:sp>
      <p:sp>
        <p:nvSpPr>
          <p:cNvPr id="5" name="Rectangle 4"/>
          <p:cNvSpPr/>
          <p:nvPr/>
        </p:nvSpPr>
        <p:spPr>
          <a:xfrm>
            <a:off x="2819400" y="5029200"/>
            <a:ext cx="28956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Transformation</a:t>
            </a:r>
          </a:p>
          <a:p>
            <a:pPr algn="ctr"/>
            <a:r>
              <a:rPr lang="en-US" sz="2400" dirty="0" smtClean="0"/>
              <a:t>process</a:t>
            </a:r>
            <a:endParaRPr lang="en-US" sz="2400" dirty="0"/>
          </a:p>
        </p:txBody>
      </p:sp>
      <p:sp>
        <p:nvSpPr>
          <p:cNvPr id="7" name="Right Arrow 6"/>
          <p:cNvSpPr/>
          <p:nvPr/>
        </p:nvSpPr>
        <p:spPr>
          <a:xfrm>
            <a:off x="2514600" y="5486400"/>
            <a:ext cx="304800"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Arrow 9"/>
          <p:cNvSpPr/>
          <p:nvPr/>
        </p:nvSpPr>
        <p:spPr>
          <a:xfrm>
            <a:off x="5715000" y="5410200"/>
            <a:ext cx="533400"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own Arrow 10"/>
          <p:cNvSpPr/>
          <p:nvPr/>
        </p:nvSpPr>
        <p:spPr>
          <a:xfrm>
            <a:off x="1447800" y="5943600"/>
            <a:ext cx="76200" cy="304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own Arrow 11"/>
          <p:cNvSpPr/>
          <p:nvPr/>
        </p:nvSpPr>
        <p:spPr>
          <a:xfrm>
            <a:off x="7467600" y="5943600"/>
            <a:ext cx="76200" cy="2286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752600"/>
            <a:ext cx="3048000" cy="2514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dirty="0" smtClean="0"/>
              <a:t>Input</a:t>
            </a:r>
          </a:p>
          <a:p>
            <a:endParaRPr lang="en-US" sz="2400" dirty="0" smtClean="0"/>
          </a:p>
          <a:p>
            <a:pPr>
              <a:buFont typeface="Wingdings" pitchFamily="2" charset="2"/>
              <a:buChar char="q"/>
            </a:pPr>
            <a:r>
              <a:rPr lang="en-US" sz="2400" dirty="0" smtClean="0"/>
              <a:t>Human resource</a:t>
            </a:r>
          </a:p>
          <a:p>
            <a:pPr>
              <a:buFont typeface="Wingdings" pitchFamily="2" charset="2"/>
              <a:buChar char="q"/>
            </a:pPr>
            <a:r>
              <a:rPr lang="en-US" sz="2400" dirty="0" smtClean="0"/>
              <a:t>Physical resources</a:t>
            </a:r>
          </a:p>
          <a:p>
            <a:pPr>
              <a:buFont typeface="Wingdings" pitchFamily="2" charset="2"/>
              <a:buChar char="q"/>
            </a:pPr>
            <a:r>
              <a:rPr lang="en-US" sz="2400" dirty="0" smtClean="0"/>
              <a:t>Financial resources</a:t>
            </a:r>
          </a:p>
          <a:p>
            <a:pPr>
              <a:buFont typeface="Wingdings" pitchFamily="2" charset="2"/>
              <a:buChar char="q"/>
            </a:pPr>
            <a:r>
              <a:rPr lang="en-US" sz="2400" dirty="0" smtClean="0"/>
              <a:t>Information     </a:t>
            </a:r>
            <a:endParaRPr lang="en-US" sz="2400" dirty="0"/>
          </a:p>
        </p:txBody>
      </p:sp>
      <p:sp>
        <p:nvSpPr>
          <p:cNvPr id="3" name="Rectangle 2"/>
          <p:cNvSpPr/>
          <p:nvPr/>
        </p:nvSpPr>
        <p:spPr>
          <a:xfrm>
            <a:off x="6705600" y="1752600"/>
            <a:ext cx="2438400" cy="2514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dirty="0" smtClean="0"/>
              <a:t>Output</a:t>
            </a:r>
          </a:p>
          <a:p>
            <a:endParaRPr lang="en-US" sz="2400" dirty="0" smtClean="0"/>
          </a:p>
          <a:p>
            <a:pPr>
              <a:buFont typeface="Wingdings" pitchFamily="2" charset="2"/>
              <a:buChar char="q"/>
            </a:pPr>
            <a:r>
              <a:rPr lang="en-US" sz="2400" dirty="0" smtClean="0"/>
              <a:t>Product</a:t>
            </a:r>
          </a:p>
          <a:p>
            <a:pPr>
              <a:buFont typeface="Wingdings" pitchFamily="2" charset="2"/>
              <a:buChar char="q"/>
            </a:pPr>
            <a:r>
              <a:rPr lang="en-US" sz="2400" dirty="0" smtClean="0"/>
              <a:t>Service</a:t>
            </a:r>
          </a:p>
          <a:p>
            <a:pPr>
              <a:buFont typeface="Wingdings" pitchFamily="2" charset="2"/>
              <a:buChar char="q"/>
            </a:pPr>
            <a:r>
              <a:rPr lang="en-US" sz="2400" dirty="0" smtClean="0"/>
              <a:t>Profitability </a:t>
            </a:r>
          </a:p>
          <a:p>
            <a:pPr>
              <a:buFont typeface="Wingdings" pitchFamily="2" charset="2"/>
              <a:buChar char="q"/>
            </a:pPr>
            <a:r>
              <a:rPr lang="en-US" sz="2400" dirty="0" smtClean="0"/>
              <a:t>productivity</a:t>
            </a:r>
            <a:endParaRPr lang="en-US" sz="2400" dirty="0"/>
          </a:p>
        </p:txBody>
      </p:sp>
      <p:sp>
        <p:nvSpPr>
          <p:cNvPr id="4" name="Rectangle 3"/>
          <p:cNvSpPr/>
          <p:nvPr/>
        </p:nvSpPr>
        <p:spPr>
          <a:xfrm>
            <a:off x="3276600" y="1752600"/>
            <a:ext cx="3276600" cy="2514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dirty="0" smtClean="0"/>
              <a:t>Processing</a:t>
            </a:r>
          </a:p>
          <a:p>
            <a:endParaRPr lang="en-US" sz="2400" dirty="0" smtClean="0"/>
          </a:p>
          <a:p>
            <a:pPr>
              <a:buFont typeface="Wingdings" pitchFamily="2" charset="2"/>
              <a:buChar char="q"/>
            </a:pPr>
            <a:r>
              <a:rPr lang="en-US" sz="2400" dirty="0" smtClean="0"/>
              <a:t>Transformation </a:t>
            </a:r>
          </a:p>
          <a:p>
            <a:pPr>
              <a:buFont typeface="Wingdings" pitchFamily="2" charset="2"/>
              <a:buChar char="q"/>
            </a:pPr>
            <a:r>
              <a:rPr lang="en-US" sz="2400" dirty="0" smtClean="0"/>
              <a:t>Technology </a:t>
            </a:r>
          </a:p>
          <a:p>
            <a:pPr>
              <a:buFont typeface="Wingdings" pitchFamily="2" charset="2"/>
              <a:buChar char="q"/>
            </a:pPr>
            <a:r>
              <a:rPr lang="en-US" sz="2400" dirty="0" smtClean="0"/>
              <a:t> Operation</a:t>
            </a:r>
          </a:p>
          <a:p>
            <a:pPr>
              <a:buFont typeface="Wingdings" pitchFamily="2" charset="2"/>
              <a:buChar char="q"/>
            </a:pPr>
            <a:r>
              <a:rPr lang="en-US" sz="2400" dirty="0" smtClean="0"/>
              <a:t>Management control</a:t>
            </a:r>
            <a:endParaRPr lang="en-US" sz="2400" dirty="0"/>
          </a:p>
        </p:txBody>
      </p:sp>
      <p:sp>
        <p:nvSpPr>
          <p:cNvPr id="5" name="Rectangle 4"/>
          <p:cNvSpPr/>
          <p:nvPr/>
        </p:nvSpPr>
        <p:spPr>
          <a:xfrm>
            <a:off x="3429000" y="4876800"/>
            <a:ext cx="18288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Feedback</a:t>
            </a:r>
            <a:endParaRPr lang="en-US" sz="2400" dirty="0"/>
          </a:p>
        </p:txBody>
      </p:sp>
      <p:sp>
        <p:nvSpPr>
          <p:cNvPr id="6" name="Rectangle 5"/>
          <p:cNvSpPr/>
          <p:nvPr/>
        </p:nvSpPr>
        <p:spPr>
          <a:xfrm>
            <a:off x="3352800" y="5638800"/>
            <a:ext cx="20574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Environment</a:t>
            </a:r>
            <a:endParaRPr lang="en-US" sz="2400" dirty="0"/>
          </a:p>
        </p:txBody>
      </p:sp>
      <p:sp>
        <p:nvSpPr>
          <p:cNvPr id="8" name="Rectangle 7"/>
          <p:cNvSpPr/>
          <p:nvPr/>
        </p:nvSpPr>
        <p:spPr>
          <a:xfrm>
            <a:off x="3352800" y="609600"/>
            <a:ext cx="20574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Environment</a:t>
            </a:r>
            <a:endParaRPr lang="en-US" sz="2400" dirty="0"/>
          </a:p>
        </p:txBody>
      </p:sp>
      <p:sp>
        <p:nvSpPr>
          <p:cNvPr id="12" name="Down Arrow 11"/>
          <p:cNvSpPr/>
          <p:nvPr/>
        </p:nvSpPr>
        <p:spPr>
          <a:xfrm>
            <a:off x="7924800" y="4267200"/>
            <a:ext cx="45719" cy="8382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ight Arrow 12"/>
          <p:cNvSpPr/>
          <p:nvPr/>
        </p:nvSpPr>
        <p:spPr>
          <a:xfrm rot="10800000">
            <a:off x="5334000" y="5181600"/>
            <a:ext cx="2590800" cy="76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ight Arrow 13"/>
          <p:cNvSpPr/>
          <p:nvPr/>
        </p:nvSpPr>
        <p:spPr>
          <a:xfrm rot="10800000">
            <a:off x="1066800" y="5181600"/>
            <a:ext cx="2286000"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ight Arrow 15"/>
          <p:cNvSpPr/>
          <p:nvPr/>
        </p:nvSpPr>
        <p:spPr>
          <a:xfrm rot="16200000" flipV="1">
            <a:off x="662940" y="4747260"/>
            <a:ext cx="853440"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Arrow 17"/>
          <p:cNvSpPr/>
          <p:nvPr/>
        </p:nvSpPr>
        <p:spPr>
          <a:xfrm rot="16200000">
            <a:off x="1295400" y="1524000"/>
            <a:ext cx="457200" cy="76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ight Arrow 18"/>
          <p:cNvSpPr/>
          <p:nvPr/>
        </p:nvSpPr>
        <p:spPr>
          <a:xfrm>
            <a:off x="1524000" y="1371600"/>
            <a:ext cx="2971800" cy="76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Down Arrow 19"/>
          <p:cNvSpPr/>
          <p:nvPr/>
        </p:nvSpPr>
        <p:spPr>
          <a:xfrm>
            <a:off x="4495800" y="1371600"/>
            <a:ext cx="45719" cy="3810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ight Arrow 21"/>
          <p:cNvSpPr/>
          <p:nvPr/>
        </p:nvSpPr>
        <p:spPr>
          <a:xfrm rot="16200000">
            <a:off x="5562600" y="1524000"/>
            <a:ext cx="381000" cy="76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Arrow 22"/>
          <p:cNvSpPr/>
          <p:nvPr/>
        </p:nvSpPr>
        <p:spPr>
          <a:xfrm>
            <a:off x="5715000" y="1295400"/>
            <a:ext cx="2209800" cy="76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Down Arrow 23"/>
          <p:cNvSpPr/>
          <p:nvPr/>
        </p:nvSpPr>
        <p:spPr>
          <a:xfrm>
            <a:off x="7924800" y="1371600"/>
            <a:ext cx="45719" cy="304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flipH="1">
            <a:off x="304800" y="762000"/>
            <a:ext cx="8197269" cy="4801314"/>
          </a:xfrm>
          <a:prstGeom prst="rect">
            <a:avLst/>
          </a:prstGeom>
          <a:noFill/>
        </p:spPr>
        <p:txBody>
          <a:bodyPr wrap="square" rtlCol="0">
            <a:spAutoFit/>
          </a:bodyPr>
          <a:lstStyle/>
          <a:p>
            <a:r>
              <a:rPr lang="en-US" sz="2400" b="1" dirty="0" smtClean="0"/>
              <a:t>Systems approach to management</a:t>
            </a:r>
          </a:p>
          <a:p>
            <a:r>
              <a:rPr lang="en-US" dirty="0" smtClean="0"/>
              <a:t> </a:t>
            </a:r>
          </a:p>
          <a:p>
            <a:pPr>
              <a:buFont typeface="Wingdings" pitchFamily="2" charset="2"/>
              <a:buChar char="Ø"/>
            </a:pPr>
            <a:r>
              <a:rPr lang="en-US" sz="2400" dirty="0" smtClean="0"/>
              <a:t> It says that every organization is a system</a:t>
            </a:r>
          </a:p>
          <a:p>
            <a:r>
              <a:rPr lang="en-US" sz="2400" dirty="0" smtClean="0"/>
              <a:t> </a:t>
            </a:r>
          </a:p>
          <a:p>
            <a:pPr>
              <a:buFont typeface="Wingdings" pitchFamily="2" charset="2"/>
              <a:buChar char="Ø"/>
            </a:pPr>
            <a:r>
              <a:rPr lang="en-US" sz="2400" dirty="0" smtClean="0"/>
              <a:t> It consists of many independent and interacting sub — systems within itself</a:t>
            </a:r>
          </a:p>
          <a:p>
            <a:r>
              <a:rPr lang="en-US" sz="2400" dirty="0" smtClean="0"/>
              <a:t> </a:t>
            </a:r>
          </a:p>
          <a:p>
            <a:pPr>
              <a:buFont typeface="Wingdings" pitchFamily="2" charset="2"/>
              <a:buChar char="Ø"/>
            </a:pPr>
            <a:r>
              <a:rPr lang="en-US" sz="2400" dirty="0" smtClean="0"/>
              <a:t>Every manager should manage the organization after considering all its sub —systems and external environment</a:t>
            </a:r>
          </a:p>
          <a:p>
            <a:endParaRPr lang="en-US" sz="2400" dirty="0" smtClean="0"/>
          </a:p>
          <a:p>
            <a:pPr>
              <a:buFont typeface="Wingdings" pitchFamily="2" charset="2"/>
              <a:buChar char="Ø"/>
            </a:pPr>
            <a:r>
              <a:rPr lang="en-US" sz="2400" dirty="0" smtClean="0"/>
              <a:t> He should ensure that output of the organization should be more than the combined output of its individual departments</a:t>
            </a:r>
            <a:endParaRPr lang="en-US" sz="2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2400" y="762000"/>
            <a:ext cx="8382000" cy="1938992"/>
          </a:xfrm>
          <a:prstGeom prst="rect">
            <a:avLst/>
          </a:prstGeom>
          <a:noFill/>
        </p:spPr>
        <p:txBody>
          <a:bodyPr wrap="square" rtlCol="0">
            <a:spAutoFit/>
          </a:bodyPr>
          <a:lstStyle/>
          <a:p>
            <a:r>
              <a:rPr lang="en-US" sz="2400" b="1" dirty="0" smtClean="0"/>
              <a:t>Contingency  (</a:t>
            </a:r>
            <a:r>
              <a:rPr lang="ne-NP" sz="2400" dirty="0" smtClean="0"/>
              <a:t>आकस्मिकता </a:t>
            </a:r>
            <a:r>
              <a:rPr lang="en-US" sz="2400" dirty="0" smtClean="0"/>
              <a:t>) </a:t>
            </a:r>
            <a:r>
              <a:rPr lang="en-US" sz="2400" b="1" dirty="0" smtClean="0"/>
              <a:t>approach</a:t>
            </a:r>
          </a:p>
          <a:p>
            <a:endParaRPr lang="en-US" sz="2400" dirty="0" smtClean="0"/>
          </a:p>
          <a:p>
            <a:pPr algn="just"/>
            <a:r>
              <a:rPr lang="en-US" sz="2400" dirty="0" smtClean="0"/>
              <a:t>It suggests that managers must do what the situation wants or managers actions must be contingent upon the organizational situation or environment</a:t>
            </a:r>
            <a:endParaRPr lang="en-US" dirty="0"/>
          </a:p>
        </p:txBody>
      </p:sp>
      <p:sp>
        <p:nvSpPr>
          <p:cNvPr id="3" name="TextBox 2"/>
          <p:cNvSpPr txBox="1"/>
          <p:nvPr/>
        </p:nvSpPr>
        <p:spPr>
          <a:xfrm>
            <a:off x="228600" y="2795349"/>
            <a:ext cx="8686800" cy="3693319"/>
          </a:xfrm>
          <a:prstGeom prst="rect">
            <a:avLst/>
          </a:prstGeom>
          <a:noFill/>
        </p:spPr>
        <p:txBody>
          <a:bodyPr wrap="square" rtlCol="0">
            <a:spAutoFit/>
          </a:bodyPr>
          <a:lstStyle/>
          <a:p>
            <a:endParaRPr lang="en-US" sz="2400" dirty="0" smtClean="0"/>
          </a:p>
          <a:p>
            <a:pPr algn="just">
              <a:buFont typeface="Wingdings" pitchFamily="2" charset="2"/>
              <a:buChar char="Ø"/>
            </a:pPr>
            <a:r>
              <a:rPr lang="en-US" sz="2400" dirty="0" smtClean="0"/>
              <a:t> It is an extension of systems approach .In the 1970s, it was felt that none of the approaches to management had all the solutions to all the problems in an organization</a:t>
            </a:r>
          </a:p>
          <a:p>
            <a:pPr algn="just"/>
            <a:endParaRPr lang="en-US" sz="2400" dirty="0" smtClean="0"/>
          </a:p>
          <a:p>
            <a:pPr algn="just">
              <a:buFont typeface="Wingdings" pitchFamily="2" charset="2"/>
              <a:buChar char="Ø"/>
            </a:pPr>
            <a:r>
              <a:rPr lang="en-US" sz="2400" dirty="0" smtClean="0"/>
              <a:t>According to this approach, the task of a manager is to identify which technique will, in a particular situation, under particular circumstances and at a particular time, best contribute to the attainment of goals.</a:t>
            </a:r>
          </a:p>
          <a:p>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671691"/>
            <a:ext cx="8534400" cy="6186309"/>
          </a:xfrm>
          <a:prstGeom prst="rect">
            <a:avLst/>
          </a:prstGeom>
          <a:noFill/>
        </p:spPr>
        <p:txBody>
          <a:bodyPr wrap="square" rtlCol="0">
            <a:spAutoFit/>
          </a:bodyPr>
          <a:lstStyle/>
          <a:p>
            <a:r>
              <a:rPr lang="en-US" sz="2400" b="1" dirty="0" smtClean="0"/>
              <a:t>Assumptions of Contingency approach</a:t>
            </a:r>
          </a:p>
          <a:p>
            <a:r>
              <a:rPr lang="en-US" sz="2400" dirty="0" smtClean="0"/>
              <a:t> </a:t>
            </a:r>
          </a:p>
          <a:p>
            <a:pPr>
              <a:buFont typeface="Wingdings" pitchFamily="2" charset="2"/>
              <a:buChar char="Ø"/>
            </a:pPr>
            <a:r>
              <a:rPr lang="en-US" sz="2400" dirty="0" smtClean="0"/>
              <a:t> Each organization is unique</a:t>
            </a:r>
          </a:p>
          <a:p>
            <a:r>
              <a:rPr lang="en-US" sz="2400" dirty="0" smtClean="0"/>
              <a:t> </a:t>
            </a:r>
          </a:p>
          <a:p>
            <a:pPr>
              <a:buFont typeface="Wingdings" pitchFamily="2" charset="2"/>
              <a:buChar char="Ø"/>
            </a:pPr>
            <a:r>
              <a:rPr lang="en-US" sz="2400" dirty="0" smtClean="0"/>
              <a:t> External environment of each organization is</a:t>
            </a:r>
          </a:p>
          <a:p>
            <a:r>
              <a:rPr lang="en-US" sz="2400" dirty="0" smtClean="0"/>
              <a:t>different and unique</a:t>
            </a:r>
          </a:p>
          <a:p>
            <a:r>
              <a:rPr lang="en-US" sz="2400" dirty="0" smtClean="0"/>
              <a:t> </a:t>
            </a:r>
          </a:p>
          <a:p>
            <a:pPr>
              <a:buFont typeface="Wingdings" pitchFamily="2" charset="2"/>
              <a:buChar char="Ø"/>
            </a:pPr>
            <a:r>
              <a:rPr lang="en-US" sz="2400" dirty="0" smtClean="0"/>
              <a:t>Sub — systems of organization are interrelated</a:t>
            </a:r>
          </a:p>
          <a:p>
            <a:r>
              <a:rPr lang="en-US" sz="2400" dirty="0" smtClean="0"/>
              <a:t> </a:t>
            </a:r>
          </a:p>
          <a:p>
            <a:pPr>
              <a:buFont typeface="Wingdings" pitchFamily="2" charset="2"/>
              <a:buChar char="Ø"/>
            </a:pPr>
            <a:r>
              <a:rPr lang="en-US" sz="2400" dirty="0" smtClean="0"/>
              <a:t>There cannot be one best way of doing a thing</a:t>
            </a:r>
          </a:p>
          <a:p>
            <a:r>
              <a:rPr lang="en-US" sz="2400" dirty="0" smtClean="0"/>
              <a:t> </a:t>
            </a:r>
          </a:p>
          <a:p>
            <a:pPr>
              <a:buFont typeface="Wingdings" pitchFamily="2" charset="2"/>
              <a:buChar char="Ø"/>
            </a:pPr>
            <a:r>
              <a:rPr lang="en-US" sz="2400" dirty="0" smtClean="0"/>
              <a:t> Best approach to management is situational</a:t>
            </a:r>
          </a:p>
          <a:p>
            <a:r>
              <a:rPr lang="en-US" sz="2400" dirty="0" smtClean="0"/>
              <a:t> </a:t>
            </a:r>
          </a:p>
          <a:p>
            <a:pPr>
              <a:buFont typeface="Wingdings" pitchFamily="2" charset="2"/>
              <a:buChar char="Ø"/>
            </a:pPr>
            <a:r>
              <a:rPr lang="en-US" sz="2400" dirty="0" smtClean="0"/>
              <a:t>Key to a manager’s success lies in his ability to perceive(</a:t>
            </a:r>
            <a:r>
              <a:rPr lang="ne-NP" sz="2400" dirty="0" smtClean="0"/>
              <a:t>बुझ्नु</a:t>
            </a:r>
            <a:r>
              <a:rPr lang="en-US" sz="2400" smtClean="0"/>
              <a:t>) </a:t>
            </a:r>
            <a:r>
              <a:rPr lang="en-US" sz="2400" dirty="0" smtClean="0"/>
              <a:t>and analyze every situation</a:t>
            </a:r>
            <a:r>
              <a:rPr lang="en-US" dirty="0" smtClean="0"/>
              <a:t> </a:t>
            </a:r>
          </a:p>
          <a:p>
            <a:r>
              <a:rPr lang="en-US" dirty="0" smtClean="0"/>
              <a:t> </a:t>
            </a:r>
          </a:p>
          <a:p>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143000"/>
            <a:ext cx="8686800" cy="3323987"/>
          </a:xfrm>
          <a:prstGeom prst="rect">
            <a:avLst/>
          </a:prstGeom>
          <a:noFill/>
        </p:spPr>
        <p:txBody>
          <a:bodyPr wrap="square" rtlCol="0">
            <a:spAutoFit/>
          </a:bodyPr>
          <a:lstStyle/>
          <a:p>
            <a:r>
              <a:rPr lang="en-US" sz="2400" dirty="0" smtClean="0"/>
              <a:t>Limitations of Contingency Theory</a:t>
            </a:r>
          </a:p>
          <a:p>
            <a:endParaRPr lang="en-US" sz="2400" dirty="0" smtClean="0"/>
          </a:p>
          <a:p>
            <a:pPr>
              <a:buFont typeface="Wingdings" pitchFamily="2" charset="2"/>
              <a:buChar char="Ø"/>
            </a:pPr>
            <a:r>
              <a:rPr lang="en-US" sz="2400" dirty="0" smtClean="0"/>
              <a:t>This theory suggests situational decision making but it does not recommend any probable solution for the problems in different situations.</a:t>
            </a:r>
          </a:p>
          <a:p>
            <a:pPr>
              <a:buFont typeface="Wingdings" pitchFamily="2" charset="2"/>
              <a:buChar char="Ø"/>
            </a:pPr>
            <a:endParaRPr lang="en-US" sz="2400" dirty="0" smtClean="0"/>
          </a:p>
          <a:p>
            <a:pPr>
              <a:buFont typeface="Wingdings" pitchFamily="2" charset="2"/>
              <a:buChar char="Ø"/>
            </a:pPr>
            <a:r>
              <a:rPr lang="en-US" sz="2400" dirty="0" smtClean="0"/>
              <a:t>Managers may sometimes have misleading in search of situation specific problems</a:t>
            </a:r>
          </a:p>
          <a:p>
            <a:pPr>
              <a:buFont typeface="Wingdings" pitchFamily="2" charset="2"/>
              <a:buChar char="Ø"/>
            </a:pPr>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838200"/>
            <a:ext cx="8686800" cy="4493538"/>
          </a:xfrm>
          <a:prstGeom prst="rect">
            <a:avLst/>
          </a:prstGeom>
          <a:noFill/>
        </p:spPr>
        <p:txBody>
          <a:bodyPr wrap="square" rtlCol="0">
            <a:spAutoFit/>
          </a:bodyPr>
          <a:lstStyle/>
          <a:p>
            <a:r>
              <a:rPr lang="en-US" sz="2800" b="1" dirty="0" smtClean="0"/>
              <a:t>Emerging Challenges For Management</a:t>
            </a:r>
          </a:p>
          <a:p>
            <a:endParaRPr lang="en-US" sz="2400" b="1" dirty="0" smtClean="0"/>
          </a:p>
          <a:p>
            <a:pPr>
              <a:buFont typeface="Wingdings" pitchFamily="2" charset="2"/>
              <a:buChar char="Ø"/>
            </a:pPr>
            <a:r>
              <a:rPr lang="en-US" sz="2400" b="1" dirty="0" smtClean="0"/>
              <a:t>Globalization</a:t>
            </a:r>
          </a:p>
          <a:p>
            <a:pPr>
              <a:buFont typeface="Wingdings" pitchFamily="2" charset="2"/>
              <a:buChar char="Ø"/>
            </a:pPr>
            <a:r>
              <a:rPr lang="en-US" sz="2400" b="1" dirty="0" smtClean="0"/>
              <a:t>Development of environmentalism</a:t>
            </a:r>
          </a:p>
          <a:p>
            <a:pPr>
              <a:buFont typeface="Wingdings" pitchFamily="2" charset="2"/>
              <a:buChar char="Ø"/>
            </a:pPr>
            <a:r>
              <a:rPr lang="en-US" sz="2400" b="1" dirty="0" smtClean="0"/>
              <a:t>Quality and productivity</a:t>
            </a:r>
          </a:p>
          <a:p>
            <a:pPr>
              <a:buFont typeface="Wingdings" pitchFamily="2" charset="2"/>
              <a:buChar char="Ø"/>
            </a:pPr>
            <a:r>
              <a:rPr lang="en-US" sz="2400" b="1" dirty="0" smtClean="0"/>
              <a:t>Ethics and social responsibility</a:t>
            </a:r>
          </a:p>
          <a:p>
            <a:pPr>
              <a:buFont typeface="Wingdings" pitchFamily="2" charset="2"/>
              <a:buChar char="Ø"/>
            </a:pPr>
            <a:r>
              <a:rPr lang="en-US" sz="2400" b="1" dirty="0" smtClean="0"/>
              <a:t>Work force diversity</a:t>
            </a:r>
          </a:p>
          <a:p>
            <a:pPr>
              <a:buFont typeface="Wingdings" pitchFamily="2" charset="2"/>
              <a:buChar char="Ø"/>
            </a:pPr>
            <a:r>
              <a:rPr lang="en-US" sz="2400" b="1" dirty="0" smtClean="0"/>
              <a:t>Innovation and change</a:t>
            </a:r>
          </a:p>
          <a:p>
            <a:pPr>
              <a:buFont typeface="Wingdings" pitchFamily="2" charset="2"/>
              <a:buChar char="Ø"/>
            </a:pPr>
            <a:r>
              <a:rPr lang="en-US" sz="2400" b="1" dirty="0" smtClean="0"/>
              <a:t>Empowerment of employees</a:t>
            </a:r>
          </a:p>
          <a:p>
            <a:pPr>
              <a:buFont typeface="Wingdings" pitchFamily="2" charset="2"/>
              <a:buChar char="Ø"/>
            </a:pPr>
            <a:r>
              <a:rPr lang="en-US" sz="2400" b="1" dirty="0" smtClean="0"/>
              <a:t>Knowledge management</a:t>
            </a:r>
          </a:p>
          <a:p>
            <a:pPr>
              <a:buFont typeface="Wingdings" pitchFamily="2" charset="2"/>
              <a:buChar char="Ø"/>
            </a:pPr>
            <a:r>
              <a:rPr lang="en-US" sz="2400" b="1" dirty="0" smtClean="0"/>
              <a:t>Technological development</a:t>
            </a:r>
          </a:p>
          <a:p>
            <a:endParaRPr 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685800"/>
            <a:ext cx="8229600" cy="3754874"/>
          </a:xfrm>
          <a:prstGeom prst="rect">
            <a:avLst/>
          </a:prstGeom>
          <a:noFill/>
        </p:spPr>
        <p:txBody>
          <a:bodyPr wrap="square" rtlCol="0">
            <a:spAutoFit/>
          </a:bodyPr>
          <a:lstStyle/>
          <a:p>
            <a:pPr algn="just"/>
            <a:r>
              <a:rPr lang="en-US" sz="2800" b="1" dirty="0" smtClean="0"/>
              <a:t>Globalization</a:t>
            </a:r>
            <a:r>
              <a:rPr lang="en-US" dirty="0" smtClean="0"/>
              <a:t>:-</a:t>
            </a:r>
          </a:p>
          <a:p>
            <a:pPr algn="just"/>
            <a:r>
              <a:rPr lang="en-US" sz="2400" dirty="0" smtClean="0"/>
              <a:t> In this competitive world, organization have to compete in global market.  So transport and communication networks and economic interdependence has tied the people of the world together and narrowed the geographical distance. Goods and services produced in any country of the world have reached different country without restriction or barriers. Therefore the current manager  should act with global perspective, such as price wise , quality wise </a:t>
            </a:r>
          </a:p>
          <a:p>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685800"/>
            <a:ext cx="8610600" cy="2739211"/>
          </a:xfrm>
          <a:prstGeom prst="rect">
            <a:avLst/>
          </a:prstGeom>
          <a:noFill/>
        </p:spPr>
        <p:txBody>
          <a:bodyPr wrap="square" rtlCol="0">
            <a:spAutoFit/>
          </a:bodyPr>
          <a:lstStyle/>
          <a:p>
            <a:pPr algn="just"/>
            <a:r>
              <a:rPr lang="en-US" sz="2800" b="1" dirty="0" smtClean="0"/>
              <a:t>Development of Environmentalism</a:t>
            </a:r>
            <a:r>
              <a:rPr lang="en-US" sz="2400" dirty="0" smtClean="0"/>
              <a:t>:- </a:t>
            </a:r>
          </a:p>
          <a:p>
            <a:pPr algn="just"/>
            <a:r>
              <a:rPr lang="en-US" sz="2400" dirty="0" smtClean="0"/>
              <a:t>Environment issues have become a major challenge for today’s managers. Due to Industrialization, deforestation, global warming , air pollution, water pollution are increased . That’s why manager should be considered in eco-friendly whole establishing of factory. Manager should use method to make profit without harming the environment.</a:t>
            </a:r>
            <a:endParaRPr lang="en-US" dirty="0"/>
          </a:p>
        </p:txBody>
      </p:sp>
      <p:sp>
        <p:nvSpPr>
          <p:cNvPr id="3" name="TextBox 2"/>
          <p:cNvSpPr txBox="1"/>
          <p:nvPr/>
        </p:nvSpPr>
        <p:spPr>
          <a:xfrm>
            <a:off x="304800" y="3581400"/>
            <a:ext cx="8610600" cy="2739211"/>
          </a:xfrm>
          <a:prstGeom prst="rect">
            <a:avLst/>
          </a:prstGeom>
          <a:noFill/>
        </p:spPr>
        <p:txBody>
          <a:bodyPr wrap="square" rtlCol="0">
            <a:spAutoFit/>
          </a:bodyPr>
          <a:lstStyle/>
          <a:p>
            <a:r>
              <a:rPr lang="en-US" sz="2800" b="1" dirty="0" smtClean="0"/>
              <a:t>Quality and productivity</a:t>
            </a:r>
            <a:r>
              <a:rPr lang="en-US" dirty="0" smtClean="0"/>
              <a:t>:-  </a:t>
            </a:r>
          </a:p>
          <a:p>
            <a:pPr algn="just"/>
            <a:r>
              <a:rPr lang="en-US" sz="2400" dirty="0" smtClean="0"/>
              <a:t>In today’s business world , maintaining quality while increasing productivity has become a challenging task. In the past, managers acted on the misconception that they could increase output only by dressing quality. But nowadays, they have realized that quality and productivity are inter-related. A quality improvement program gives management three positive results. </a:t>
            </a:r>
            <a:endParaRPr lang="en-US" sz="24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762000"/>
            <a:ext cx="8458200" cy="6401753"/>
          </a:xfrm>
          <a:prstGeom prst="rect">
            <a:avLst/>
          </a:prstGeom>
          <a:noFill/>
        </p:spPr>
        <p:txBody>
          <a:bodyPr wrap="square" rtlCol="0">
            <a:spAutoFit/>
          </a:bodyPr>
          <a:lstStyle/>
          <a:p>
            <a:r>
              <a:rPr lang="en-US" sz="2800" b="1" dirty="0" smtClean="0"/>
              <a:t>Ethics and social responsibility</a:t>
            </a:r>
            <a:r>
              <a:rPr lang="en-US" dirty="0" smtClean="0"/>
              <a:t>:- </a:t>
            </a:r>
          </a:p>
          <a:p>
            <a:pPr algn="just"/>
            <a:r>
              <a:rPr lang="en-US" sz="2400" dirty="0" smtClean="0"/>
              <a:t>Ethics and social responsibility have caught the attention of the current manager. When any manager makes a decision, they should not make decisions against any terms, values beliefs, plans, rules as well as policies. A manager should fulfill the responsibility towards the society. Organization to do various kinds of work to be responsible towards the society such as employment creation, environmental pollution, avoid fake advertising and competition etc</a:t>
            </a:r>
          </a:p>
          <a:p>
            <a:pPr algn="just"/>
            <a:r>
              <a:rPr lang="en-US" sz="2400" dirty="0" smtClean="0"/>
              <a:t> </a:t>
            </a:r>
          </a:p>
          <a:p>
            <a:r>
              <a:rPr lang="en-US" sz="2800" b="1" dirty="0" smtClean="0"/>
              <a:t>Work force diversity</a:t>
            </a:r>
            <a:r>
              <a:rPr lang="en-US" dirty="0" smtClean="0"/>
              <a:t>:-</a:t>
            </a:r>
          </a:p>
          <a:p>
            <a:pPr algn="just"/>
            <a:r>
              <a:rPr lang="en-US" sz="2400" dirty="0" smtClean="0"/>
              <a:t> work force diversity means mixture of different nature of people in organization. Due to globalization, government, policy changed, demographic distribution that helps people working one era although they are different from each other likes age, gender, language etc. </a:t>
            </a:r>
          </a:p>
          <a:p>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457200"/>
            <a:ext cx="8839200" cy="6678751"/>
          </a:xfrm>
          <a:prstGeom prst="rect">
            <a:avLst/>
          </a:prstGeom>
          <a:noFill/>
        </p:spPr>
        <p:txBody>
          <a:bodyPr wrap="square" rtlCol="0">
            <a:spAutoFit/>
          </a:bodyPr>
          <a:lstStyle/>
          <a:p>
            <a:r>
              <a:rPr lang="en-US" sz="2800" b="1" dirty="0" smtClean="0"/>
              <a:t>Innovation and change</a:t>
            </a:r>
            <a:r>
              <a:rPr lang="en-US" dirty="0" smtClean="0"/>
              <a:t>:- </a:t>
            </a:r>
          </a:p>
          <a:p>
            <a:pPr algn="just"/>
            <a:r>
              <a:rPr lang="en-US" sz="2400" dirty="0" smtClean="0"/>
              <a:t>Innovation and change have become like the reality of the business world. It means all the member of the organization should not work always in the same way. Because of it can felt bore and monotonous to the employees. So the manager should update technology, ideas, and methods time to time. So a skilled manager should use advance technology to produce high quality products at low cost and in less time. It helps organization to sale more products.</a:t>
            </a:r>
          </a:p>
          <a:p>
            <a:r>
              <a:rPr lang="en-US" dirty="0" smtClean="0"/>
              <a:t> </a:t>
            </a:r>
          </a:p>
          <a:p>
            <a:r>
              <a:rPr lang="en-US" sz="2800" b="1" dirty="0" smtClean="0"/>
              <a:t>Empowerment of employees</a:t>
            </a:r>
            <a:r>
              <a:rPr lang="en-US" dirty="0" smtClean="0"/>
              <a:t>:- </a:t>
            </a:r>
          </a:p>
          <a:p>
            <a:pPr algn="just"/>
            <a:r>
              <a:rPr lang="en-US" sz="2400" dirty="0" smtClean="0"/>
              <a:t>Employees and the manager are focused on achieving the same goals, organizational objectives can be effectively achieved. In order to have god relationship between managers and support staff, there needs to motivate employees time to time, giving them responsibility as well as authority and decision making power they feel that this organization is their own.</a:t>
            </a:r>
          </a:p>
          <a:p>
            <a:endParaRPr 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548580"/>
            <a:ext cx="9144000" cy="6309420"/>
          </a:xfrm>
          <a:prstGeom prst="rect">
            <a:avLst/>
          </a:prstGeom>
          <a:noFill/>
        </p:spPr>
        <p:txBody>
          <a:bodyPr wrap="square" rtlCol="0">
            <a:spAutoFit/>
          </a:bodyPr>
          <a:lstStyle/>
          <a:p>
            <a:r>
              <a:rPr lang="en-US" sz="2800" b="1" dirty="0" smtClean="0"/>
              <a:t>Knowledge management</a:t>
            </a:r>
            <a:r>
              <a:rPr lang="en-US" dirty="0" smtClean="0"/>
              <a:t>:- </a:t>
            </a:r>
          </a:p>
          <a:p>
            <a:r>
              <a:rPr lang="en-US" sz="2400" dirty="0" smtClean="0"/>
              <a:t>In this competitive environment, knowledge has become power. The society expects new ideas, new things and creativity in product as service from any organization. To fulfill such social expectations, the manager has to accumulate knowledge and ideas. It is quite difficult to compete in such a competitive market if a manage does not enhance knowledge.</a:t>
            </a:r>
          </a:p>
          <a:p>
            <a:r>
              <a:rPr lang="en-US" dirty="0" smtClean="0"/>
              <a:t> </a:t>
            </a:r>
          </a:p>
          <a:p>
            <a:pPr algn="just"/>
            <a:r>
              <a:rPr lang="en-US" sz="2800" b="1" dirty="0" smtClean="0"/>
              <a:t>Technological development</a:t>
            </a:r>
            <a:r>
              <a:rPr lang="en-US" dirty="0" smtClean="0"/>
              <a:t>:- </a:t>
            </a:r>
            <a:r>
              <a:rPr lang="en-US" sz="2400" dirty="0" smtClean="0"/>
              <a:t>Today, technological development is an ever growing process. Technological development enhances the expectations of customers, investors, competitors, employees of an organization. Manager should be replacing the old technological equipment with new adaptable technological equipment to take advantage of opportunities to achieve business success. Similarly through the use of modern technology can be produce quality product.</a:t>
            </a:r>
          </a:p>
          <a:p>
            <a:endParaRPr 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5214</TotalTime>
  <Words>3898</Words>
  <Application>Microsoft Office PowerPoint</Application>
  <PresentationFormat>On-screen Show (4:3)</PresentationFormat>
  <Paragraphs>516</Paragraphs>
  <Slides>58</Slides>
  <Notes>0</Notes>
  <HiddenSlides>0</HiddenSlides>
  <MMClips>0</MMClips>
  <ScaleCrop>false</ScaleCrop>
  <HeadingPairs>
    <vt:vector size="4" baseType="variant">
      <vt:variant>
        <vt:lpstr>Theme</vt:lpstr>
      </vt:variant>
      <vt:variant>
        <vt:i4>1</vt:i4>
      </vt:variant>
      <vt:variant>
        <vt:lpstr>Slide Titles</vt:lpstr>
      </vt:variant>
      <vt:variant>
        <vt:i4>58</vt:i4>
      </vt:variant>
    </vt:vector>
  </HeadingPairs>
  <TitlesOfParts>
    <vt:vector size="59" baseType="lpstr">
      <vt:lpstr>Flow</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Dell</dc:creator>
  <cp:lastModifiedBy>Ranzan</cp:lastModifiedBy>
  <cp:revision>167</cp:revision>
  <dcterms:created xsi:type="dcterms:W3CDTF">2023-01-26T23:53:38Z</dcterms:created>
  <dcterms:modified xsi:type="dcterms:W3CDTF">2023-05-24T12:19:02Z</dcterms:modified>
</cp:coreProperties>
</file>